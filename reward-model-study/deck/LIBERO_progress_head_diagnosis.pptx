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371600"/>
            <a:ext cx="10515600" cy="1280160"/>
          </a:xfrm>
          <a:prstGeom prst="rect">
            <a:avLst/>
          </a:prstGeom>
          <a:noFill/>
        </p:spPr>
        <p:txBody>
          <a:bodyPr wrap="square">
            <a:spAutoFit/>
          </a:bodyPr>
          <a:lstStyle/>
          <a:p>
            <a:pPr algn="l">
              <a:lnSpc>
                <a:spcPct val="112000"/>
              </a:lnSpc>
            </a:pPr>
            <a:r>
              <a:rPr sz="3200" b="1">
                <a:solidFill>
                  <a:srgbClr val="1F3864"/>
                </a:solidFill>
                <a:latin typeface="Arial"/>
              </a:rPr>
              <a:t>The progress head on LIBERO:</a:t>
            </a:r>
          </a:p>
          <a:p>
            <a:pPr algn="l">
              <a:lnSpc>
                <a:spcPct val="112000"/>
              </a:lnSpc>
            </a:pPr>
            <a:r>
              <a:rPr sz="3200" b="1">
                <a:solidFill>
                  <a:srgbClr val="1F3864"/>
                </a:solidFill>
                <a:latin typeface="Arial"/>
              </a:rPr>
              <a:t>what breaks, why, and a fix that may avoid retraining</a:t>
            </a:r>
          </a:p>
        </p:txBody>
      </p:sp>
      <p:sp>
        <p:nvSpPr>
          <p:cNvPr id="3" name="Rectangle 2"/>
          <p:cNvSpPr/>
          <p:nvPr/>
        </p:nvSpPr>
        <p:spPr>
          <a:xfrm>
            <a:off x="868680" y="2743200"/>
            <a:ext cx="3840480" cy="4572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08960"/>
            <a:ext cx="10607040" cy="2743200"/>
          </a:xfrm>
          <a:prstGeom prst="rect">
            <a:avLst/>
          </a:prstGeom>
          <a:noFill/>
        </p:spPr>
        <p:txBody>
          <a:bodyPr wrap="square">
            <a:spAutoFit/>
          </a:bodyPr>
          <a:lstStyle/>
          <a:p>
            <a:pPr algn="l">
              <a:lnSpc>
                <a:spcPct val="130000"/>
              </a:lnSpc>
            </a:pPr>
            <a:r>
              <a:rPr sz="1500" b="0">
                <a:solidFill>
                  <a:srgbClr val="1F3864"/>
                </a:solidFill>
                <a:latin typeface="Arial"/>
              </a:rPr>
              <a:t>In one look:</a:t>
            </a:r>
          </a:p>
          <a:p>
            <a:pPr algn="l">
              <a:lnSpc>
                <a:spcPct val="130000"/>
              </a:lnSpc>
            </a:pPr>
            <a:r>
              <a:rPr sz="1500" b="0">
                <a:solidFill>
                  <a:srgbClr val="1F3864"/>
                </a:solidFill>
                <a:latin typeface="Arial"/>
              </a:rPr>
              <a:t>•  Our success head is now the strongest component: on live policy data it separates solved from failed episodes where the baseline's cannot.</a:t>
            </a:r>
          </a:p>
          <a:p>
            <a:pPr algn="l">
              <a:lnSpc>
                <a:spcPct val="130000"/>
              </a:lnSpc>
            </a:pPr>
            <a:r>
              <a:rPr sz="1500" b="0">
                <a:solidFill>
                  <a:srgbClr val="1F3864"/>
                </a:solidFill>
                <a:latin typeface="Arial"/>
              </a:rPr>
              <a:t>•  Our progress head is weaker than the baseline's on LIBERO: it reads even its own training demonstrations at 0.25 instead of 1.0.</a:t>
            </a:r>
          </a:p>
          <a:p>
            <a:pPr algn="l">
              <a:lnSpc>
                <a:spcPct val="130000"/>
              </a:lnSpc>
            </a:pPr>
            <a:r>
              <a:rPr sz="1500" b="0">
                <a:solidFill>
                  <a:srgbClr val="1F3864"/>
                </a:solidFill>
                <a:latin typeface="Arial"/>
              </a:rPr>
              <a:t>•  The cause is a two-peaked output distribution that the standard mean readout collapses. Reading the same output differently recovers the signal.</a:t>
            </a:r>
          </a:p>
          <a:p>
            <a:pPr algn="l">
              <a:lnSpc>
                <a:spcPct val="130000"/>
              </a:lnSpc>
            </a:pPr>
            <a:r>
              <a:rPr sz="1500" b="0">
                <a:solidFill>
                  <a:srgbClr val="1F3864"/>
                </a:solidFill>
                <a:latin typeface="Arial"/>
              </a:rPr>
              <a:t>•  Two issues in the authors' released code (a repeated-frame input and a changed training-target default) explain why the baseline looks stable while our models do not.</a:t>
            </a:r>
          </a:p>
        </p:txBody>
      </p:sp>
      <p:sp>
        <p:nvSpPr>
          <p:cNvPr id="5" name="TextBox 4"/>
          <p:cNvSpPr txBox="1"/>
          <p:nvPr/>
        </p:nvSpPr>
        <p:spPr>
          <a:xfrm>
            <a:off x="822960" y="6309360"/>
            <a:ext cx="10515600" cy="365760"/>
          </a:xfrm>
          <a:prstGeom prst="rect">
            <a:avLst/>
          </a:prstGeom>
          <a:noFill/>
        </p:spPr>
        <p:txBody>
          <a:bodyPr wrap="square">
            <a:spAutoFit/>
          </a:bodyPr>
          <a:lstStyle/>
          <a:p>
            <a:pPr algn="l">
              <a:lnSpc>
                <a:spcPct val="112000"/>
              </a:lnSpc>
            </a:pPr>
            <a:r>
              <a:rPr sz="1100" b="0">
                <a:solidFill>
                  <a:srgbClr val="555555"/>
                </a:solidFill>
                <a:latin typeface="Arial"/>
              </a:rPr>
              <a:t>Reward-model study, LIBERO task 28, July 3,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155680" cy="960120"/>
          </a:xfrm>
          <a:prstGeom prst="rect">
            <a:avLst/>
          </a:prstGeom>
          <a:noFill/>
        </p:spPr>
        <p:txBody>
          <a:bodyPr wrap="square">
            <a:spAutoFit/>
          </a:bodyPr>
          <a:lstStyle/>
          <a:p>
            <a:r>
              <a:rPr sz="2500" b="1">
                <a:solidFill>
                  <a:srgbClr val="1F3864"/>
                </a:solidFill>
                <a:latin typeface="Arial"/>
              </a:rPr>
              <a:t>Scoring each model on the exact training clips of the evaluation task</a:t>
            </a:r>
          </a:p>
          <a:p>
            <a:r>
              <a:rPr sz="1300" b="0">
                <a:solidFill>
                  <a:srgbClr val="555555"/>
                </a:solidFill>
                <a:latin typeface="Arial"/>
              </a:rPr>
              <a:t>30 solved and 30 failed clips of 'close the top drawer of the cabinet', final-frame readings</a:t>
            </a:r>
          </a:p>
        </p:txBody>
      </p:sp>
      <p:sp>
        <p:nvSpPr>
          <p:cNvPr id="3" name="Rectangle 2"/>
          <p:cNvSpPr/>
          <p:nvPr/>
        </p:nvSpPr>
        <p:spPr>
          <a:xfrm>
            <a:off x="566928" y="1115568"/>
            <a:ext cx="2743200" cy="4114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_heads.png"/>
          <p:cNvPicPr>
            <a:picLocks noChangeAspect="1"/>
          </p:cNvPicPr>
          <p:nvPr/>
        </p:nvPicPr>
        <p:blipFill>
          <a:blip r:embed="rId2"/>
          <a:stretch>
            <a:fillRect/>
          </a:stretch>
        </p:blipFill>
        <p:spPr>
          <a:xfrm>
            <a:off x="1224923" y="1417320"/>
            <a:ext cx="9741849" cy="3931920"/>
          </a:xfrm>
          <a:prstGeom prst="rect">
            <a:avLst/>
          </a:prstGeom>
        </p:spPr>
      </p:pic>
      <p:sp>
        <p:nvSpPr>
          <p:cNvPr id="5" name="TextBox 4"/>
          <p:cNvSpPr txBox="1"/>
          <p:nvPr/>
        </p:nvSpPr>
        <p:spPr>
          <a:xfrm>
            <a:off x="822960" y="5532120"/>
            <a:ext cx="10607040" cy="914400"/>
          </a:xfrm>
          <a:prstGeom prst="rect">
            <a:avLst/>
          </a:prstGeom>
          <a:noFill/>
        </p:spPr>
        <p:txBody>
          <a:bodyPr wrap="square">
            <a:spAutoFit/>
          </a:bodyPr>
          <a:lstStyle/>
          <a:p>
            <a:pPr algn="l">
              <a:lnSpc>
                <a:spcPct val="112000"/>
              </a:lnSpc>
            </a:pPr>
            <a:r>
              <a:rPr sz="1350" b="0">
                <a:solidFill>
                  <a:srgbClr val="1F3864"/>
                </a:solidFill>
                <a:latin typeface="Arial"/>
              </a:rPr>
              <a:t>Success head: failure data plus the asymmetric loss raised it from unusable (run3 reads true successes at 0.36) to strong (run2 at 0.82, failures at 0.20).</a:t>
            </a:r>
          </a:p>
          <a:p>
            <a:pPr algn="l">
              <a:lnSpc>
                <a:spcPct val="112000"/>
              </a:lnSpc>
            </a:pPr>
            <a:r>
              <a:rPr sz="1350" b="0">
                <a:solidFill>
                  <a:srgbClr val="1F3864"/>
                </a:solidFill>
                <a:latin typeface="Arial"/>
              </a:rPr>
              <a:t>Progress head: run2 reads demonstrations it trained on at 0.25. The defect is in the model output, not in the reinforcement learning pipeline.</a:t>
            </a:r>
          </a:p>
        </p:txBody>
      </p:sp>
      <p:sp>
        <p:nvSpPr>
          <p:cNvPr id="6" name="TextBox 5"/>
          <p:cNvSpPr txBox="1"/>
          <p:nvPr/>
        </p:nvSpPr>
        <p:spPr>
          <a:xfrm>
            <a:off x="548640" y="6419088"/>
            <a:ext cx="11155680" cy="411480"/>
          </a:xfrm>
          <a:prstGeom prst="rect">
            <a:avLst/>
          </a:prstGeom>
          <a:noFill/>
        </p:spPr>
        <p:txBody>
          <a:bodyPr wrap="square">
            <a:spAutoFit/>
          </a:bodyPr>
          <a:lstStyle/>
          <a:p>
            <a:pPr algn="l">
              <a:lnSpc>
                <a:spcPct val="112000"/>
              </a:lnSpc>
            </a:pPr>
            <a:r>
              <a:rPr sz="1000" b="0">
                <a:solidFill>
                  <a:srgbClr val="555555"/>
                </a:solidFill>
                <a:latin typeface="Arial"/>
              </a:rPr>
              <a:t>Clips from the LIBERO-90 suite; they are inside our fine-tuning data and outside the baseline's, so this comparison favors us and still shows the 0.25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155680" cy="960120"/>
          </a:xfrm>
          <a:prstGeom prst="rect">
            <a:avLst/>
          </a:prstGeom>
          <a:noFill/>
        </p:spPr>
        <p:txBody>
          <a:bodyPr wrap="square">
            <a:spAutoFit/>
          </a:bodyPr>
          <a:lstStyle/>
          <a:p>
            <a:r>
              <a:rPr sz="2500" b="1">
                <a:solidFill>
                  <a:srgbClr val="1F3864"/>
                </a:solidFill>
                <a:latin typeface="Arial"/>
              </a:rPr>
              <a:t>The progress head outputs a distribution; ours became two-peaked</a:t>
            </a:r>
          </a:p>
          <a:p>
            <a:r>
              <a:rPr sz="1300" b="0">
                <a:solidFill>
                  <a:srgbClr val="555555"/>
                </a:solidFill>
                <a:latin typeface="Arial"/>
              </a:rPr>
              <a:t>Average output on the solved training clips, final frame</a:t>
            </a:r>
          </a:p>
        </p:txBody>
      </p:sp>
      <p:sp>
        <p:nvSpPr>
          <p:cNvPr id="3" name="Rectangle 2"/>
          <p:cNvSpPr/>
          <p:nvPr/>
        </p:nvSpPr>
        <p:spPr>
          <a:xfrm>
            <a:off x="566928" y="1115568"/>
            <a:ext cx="2743200" cy="4114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_c51.png"/>
          <p:cNvPicPr>
            <a:picLocks noChangeAspect="1"/>
          </p:cNvPicPr>
          <p:nvPr/>
        </p:nvPicPr>
        <p:blipFill>
          <a:blip r:embed="rId2"/>
          <a:stretch>
            <a:fillRect/>
          </a:stretch>
        </p:blipFill>
        <p:spPr>
          <a:xfrm>
            <a:off x="609447" y="1463040"/>
            <a:ext cx="10972800" cy="3410251"/>
          </a:xfrm>
          <a:prstGeom prst="rect">
            <a:avLst/>
          </a:prstGeom>
        </p:spPr>
      </p:pic>
      <p:sp>
        <p:nvSpPr>
          <p:cNvPr id="5" name="TextBox 4"/>
          <p:cNvSpPr txBox="1"/>
          <p:nvPr/>
        </p:nvSpPr>
        <p:spPr>
          <a:xfrm>
            <a:off x="822960" y="5257800"/>
            <a:ext cx="10607040" cy="1097280"/>
          </a:xfrm>
          <a:prstGeom prst="rect">
            <a:avLst/>
          </a:prstGeom>
          <a:noFill/>
        </p:spPr>
        <p:txBody>
          <a:bodyPr wrap="square">
            <a:spAutoFit/>
          </a:bodyPr>
          <a:lstStyle/>
          <a:p>
            <a:pPr algn="l">
              <a:lnSpc>
                <a:spcPct val="112000"/>
              </a:lnSpc>
            </a:pPr>
            <a:r>
              <a:rPr sz="1350" b="0">
                <a:solidFill>
                  <a:srgbClr val="1F3864"/>
                </a:solidFill>
                <a:latin typeface="Arial"/>
              </a:rPr>
              <a:t>The baseline puts its probability mass near the true value, so the mean is faithful (0.90).</a:t>
            </a:r>
          </a:p>
          <a:p>
            <a:pPr algn="l">
              <a:lnSpc>
                <a:spcPct val="112000"/>
              </a:lnSpc>
            </a:pPr>
            <a:r>
              <a:rPr sz="1350" b="0">
                <a:solidFill>
                  <a:srgbClr val="1F3864"/>
                </a:solidFill>
                <a:latin typeface="Arial"/>
              </a:rPr>
              <a:t>Both fine-tuned models park mass at zero while keeping a spike at 1.0. The mean of run2's distribution is 0.25, a value the model itself gives 3 percent probability.</a:t>
            </a:r>
          </a:p>
          <a:p>
            <a:pPr algn="l">
              <a:lnSpc>
                <a:spcPct val="112000"/>
              </a:lnSpc>
            </a:pPr>
            <a:r>
              <a:rPr sz="1350" b="0">
                <a:solidFill>
                  <a:srgbClr val="1F3864"/>
                </a:solidFill>
                <a:latin typeface="Arial"/>
              </a:rPr>
              <a:t>The information is present in the distribution; the mean readout throws it away.</a:t>
            </a:r>
          </a:p>
        </p:txBody>
      </p:sp>
      <p:sp>
        <p:nvSpPr>
          <p:cNvPr id="6" name="TextBox 5"/>
          <p:cNvSpPr txBox="1"/>
          <p:nvPr/>
        </p:nvSpPr>
        <p:spPr>
          <a:xfrm>
            <a:off x="548640" y="6419088"/>
            <a:ext cx="11155680" cy="411480"/>
          </a:xfrm>
          <a:prstGeom prst="rect">
            <a:avLst/>
          </a:prstGeom>
          <a:noFill/>
        </p:spPr>
        <p:txBody>
          <a:bodyPr wrap="square">
            <a:spAutoFit/>
          </a:bodyPr>
          <a:lstStyle/>
          <a:p>
            <a:pPr algn="l">
              <a:lnSpc>
                <a:spcPct val="112000"/>
              </a:lnSpc>
            </a:pPr>
            <a:r>
              <a:rPr sz="1000" b="0">
                <a:solidFill>
                  <a:srgbClr val="555555"/>
                </a:solidFill>
                <a:latin typeface="Arial"/>
              </a:rPr>
              <a:t>All three models share the same 10-bin categorical progress head; only the training differs.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155680" cy="960120"/>
          </a:xfrm>
          <a:prstGeom prst="rect">
            <a:avLst/>
          </a:prstGeom>
          <a:noFill/>
        </p:spPr>
        <p:txBody>
          <a:bodyPr wrap="square">
            <a:spAutoFit/>
          </a:bodyPr>
          <a:lstStyle/>
          <a:p>
            <a:r>
              <a:rPr sz="2500" b="1">
                <a:solidFill>
                  <a:srgbClr val="1F3864"/>
                </a:solidFill>
                <a:latin typeface="Arial"/>
              </a:rPr>
              <a:t>Where the zero spike comes from: the training targets, not the network</a:t>
            </a:r>
          </a:p>
        </p:txBody>
      </p:sp>
      <p:sp>
        <p:nvSpPr>
          <p:cNvPr id="3" name="Rectangle 2"/>
          <p:cNvSpPr/>
          <p:nvPr/>
        </p:nvSpPr>
        <p:spPr>
          <a:xfrm>
            <a:off x="566928" y="1115568"/>
            <a:ext cx="2743200" cy="4114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3_windows.png"/>
          <p:cNvPicPr>
            <a:picLocks noChangeAspect="1"/>
          </p:cNvPicPr>
          <p:nvPr/>
        </p:nvPicPr>
        <p:blipFill>
          <a:blip r:embed="rId2"/>
          <a:stretch>
            <a:fillRect/>
          </a:stretch>
        </p:blipFill>
        <p:spPr>
          <a:xfrm>
            <a:off x="1739739" y="1371600"/>
            <a:ext cx="8712216" cy="2834640"/>
          </a:xfrm>
          <a:prstGeom prst="rect">
            <a:avLst/>
          </a:prstGeom>
        </p:spPr>
      </p:pic>
      <p:sp>
        <p:nvSpPr>
          <p:cNvPr id="5" name="TextBox 4"/>
          <p:cNvSpPr txBox="1"/>
          <p:nvPr/>
        </p:nvSpPr>
        <p:spPr>
          <a:xfrm>
            <a:off x="822960" y="4434840"/>
            <a:ext cx="10789920" cy="1920240"/>
          </a:xfrm>
          <a:prstGeom prst="rect">
            <a:avLst/>
          </a:prstGeom>
          <a:noFill/>
        </p:spPr>
        <p:txBody>
          <a:bodyPr wrap="square">
            <a:spAutoFit/>
          </a:bodyPr>
          <a:lstStyle/>
          <a:p>
            <a:pPr algn="l">
              <a:lnSpc>
                <a:spcPct val="112000"/>
              </a:lnSpc>
            </a:pPr>
            <a:r>
              <a:rPr sz="1300" b="0">
                <a:solidFill>
                  <a:srgbClr val="1F3864"/>
                </a:solidFill>
                <a:latin typeface="Arial"/>
              </a:rPr>
              <a:t>1.  A changed default in the authors' repository. The released baseline was trained with progress measured against the whole episode ('absolute with respect to total frames'). The repository configuration we inherited measures progress inside each randomly cut training window ('absolute first frame'): the same frame gets a different target depending on the cut, including exactly 0.0 whenever a window starts on it (figure above).</a:t>
            </a:r>
          </a:p>
          <a:p>
            <a:pPr algn="l">
              <a:lnSpc>
                <a:spcPct val="112000"/>
              </a:lnSpc>
            </a:pPr>
            <a:r>
              <a:rPr sz="1300" b="0">
                <a:solidFill>
                  <a:srgbClr val="1F3864"/>
                </a:solidFill>
                <a:latin typeface="Arial"/>
              </a:rPr>
              <a:t>2.  Our failure labels are heavy at zero: 52 percent of labeled failure frames map to target 0.0, and failures are oversampled.</a:t>
            </a:r>
          </a:p>
          <a:p>
            <a:pPr algn="l">
              <a:lnSpc>
                <a:spcPct val="112000"/>
              </a:lnSpc>
            </a:pPr>
            <a:r>
              <a:rPr sz="1300" b="0">
                <a:solidFill>
                  <a:srgbClr val="1F3864"/>
                </a:solidFill>
                <a:latin typeface="Arial"/>
              </a:rPr>
              <a:t>3.  The asymmetric loss amplifies the hedge: zero-bin mass grows from 0.42 (run3, standard loss) to 0.73 (run2, asymmetric loss).</a:t>
            </a:r>
          </a:p>
        </p:txBody>
      </p:sp>
      <p:sp>
        <p:nvSpPr>
          <p:cNvPr id="6" name="TextBox 5"/>
          <p:cNvSpPr txBox="1"/>
          <p:nvPr/>
        </p:nvSpPr>
        <p:spPr>
          <a:xfrm>
            <a:off x="548640" y="6419088"/>
            <a:ext cx="11155680" cy="411480"/>
          </a:xfrm>
          <a:prstGeom prst="rect">
            <a:avLst/>
          </a:prstGeom>
          <a:noFill/>
        </p:spPr>
        <p:txBody>
          <a:bodyPr wrap="square">
            <a:spAutoFit/>
          </a:bodyPr>
          <a:lstStyle/>
          <a:p>
            <a:pPr algn="l">
              <a:lnSpc>
                <a:spcPct val="112000"/>
              </a:lnSpc>
            </a:pPr>
            <a:r>
              <a:rPr sz="1000" b="0">
                <a:solidFill>
                  <a:srgbClr val="555555"/>
                </a:solidFill>
                <a:latin typeface="Arial"/>
              </a:rPr>
              <a:t>Our per-frame failure labels are window-independent by construction and are not affected by issue 1; only the demonstration targets 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155680" cy="960120"/>
          </a:xfrm>
          <a:prstGeom prst="rect">
            <a:avLst/>
          </a:prstGeom>
          <a:noFill/>
        </p:spPr>
        <p:txBody>
          <a:bodyPr wrap="square">
            <a:spAutoFit/>
          </a:bodyPr>
          <a:lstStyle/>
          <a:p>
            <a:r>
              <a:rPr sz="2500" b="1">
                <a:solidFill>
                  <a:srgbClr val="1F3864"/>
                </a:solidFill>
                <a:latin typeface="Arial"/>
              </a:rPr>
              <a:t>Why the baseline stays high and run2 decays: the margin at the top</a:t>
            </a:r>
          </a:p>
          <a:p>
            <a:r>
              <a:rPr sz="1300" b="0">
                <a:solidFill>
                  <a:srgbClr val="555555"/>
                </a:solidFill>
                <a:latin typeface="Arial"/>
              </a:rPr>
              <a:t>Reinforcement learning cares about the reward gap between 'almost solved' and 'solved'</a:t>
            </a:r>
          </a:p>
        </p:txBody>
      </p:sp>
      <p:sp>
        <p:nvSpPr>
          <p:cNvPr id="3" name="Rectangle 2"/>
          <p:cNvSpPr/>
          <p:nvPr/>
        </p:nvSpPr>
        <p:spPr>
          <a:xfrm>
            <a:off x="566928" y="1115568"/>
            <a:ext cx="2743200" cy="4114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4_hacking.png"/>
          <p:cNvPicPr>
            <a:picLocks noChangeAspect="1"/>
          </p:cNvPicPr>
          <p:nvPr/>
        </p:nvPicPr>
        <p:blipFill>
          <a:blip r:embed="rId2"/>
          <a:stretch>
            <a:fillRect/>
          </a:stretch>
        </p:blipFill>
        <p:spPr>
          <a:xfrm>
            <a:off x="1855317" y="1417320"/>
            <a:ext cx="8481060" cy="3657600"/>
          </a:xfrm>
          <a:prstGeom prst="rect">
            <a:avLst/>
          </a:prstGeom>
        </p:spPr>
      </p:pic>
      <p:sp>
        <p:nvSpPr>
          <p:cNvPr id="5" name="TextBox 4"/>
          <p:cNvSpPr txBox="1"/>
          <p:nvPr/>
        </p:nvSpPr>
        <p:spPr>
          <a:xfrm>
            <a:off x="822960" y="5257800"/>
            <a:ext cx="10607040" cy="1005840"/>
          </a:xfrm>
          <a:prstGeom prst="rect">
            <a:avLst/>
          </a:prstGeom>
          <a:noFill/>
        </p:spPr>
        <p:txBody>
          <a:bodyPr wrap="square">
            <a:spAutoFit/>
          </a:bodyPr>
          <a:lstStyle/>
          <a:p>
            <a:pPr algn="l">
              <a:lnSpc>
                <a:spcPct val="112000"/>
              </a:lnSpc>
            </a:pPr>
            <a:r>
              <a:rPr sz="1350" b="0">
                <a:solidFill>
                  <a:srgbClr val="1F3864"/>
                </a:solidFill>
                <a:latin typeface="Arial"/>
              </a:rPr>
              <a:t>The baseline separates hovering from solving by 0.13 on a 0.9 scale; run2 by 0.05 on a 0.25 scale. Once the policy reaches the plateau, run2's gap disappears into critic noise and the entropy bonus: measured live, solved episodes collect 2.2 times the reward of failures early in training and only 1.1 times late. True success then decays while the reward stays high.</a:t>
            </a:r>
          </a:p>
        </p:txBody>
      </p:sp>
      <p:sp>
        <p:nvSpPr>
          <p:cNvPr id="6" name="TextBox 5"/>
          <p:cNvSpPr txBox="1"/>
          <p:nvPr/>
        </p:nvSpPr>
        <p:spPr>
          <a:xfrm>
            <a:off x="548640" y="6419088"/>
            <a:ext cx="11155680" cy="411480"/>
          </a:xfrm>
          <a:prstGeom prst="rect">
            <a:avLst/>
          </a:prstGeom>
          <a:noFill/>
        </p:spPr>
        <p:txBody>
          <a:bodyPr wrap="square">
            <a:spAutoFit/>
          </a:bodyPr>
          <a:lstStyle/>
          <a:p>
            <a:pPr algn="l">
              <a:lnSpc>
                <a:spcPct val="112000"/>
              </a:lnSpc>
            </a:pPr>
            <a:r>
              <a:rPr sz="1000" b="0">
                <a:solidFill>
                  <a:srgbClr val="555555"/>
                </a:solidFill>
                <a:latin typeface="Arial"/>
              </a:rPr>
              <a:t>Left: measured on-policy values (mean peak progress of failed and solved live episodes). Right: one seed per curve, correct video input, no termination.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155680" cy="960120"/>
          </a:xfrm>
          <a:prstGeom prst="rect">
            <a:avLst/>
          </a:prstGeom>
          <a:noFill/>
        </p:spPr>
        <p:txBody>
          <a:bodyPr wrap="square">
            <a:spAutoFit/>
          </a:bodyPr>
          <a:lstStyle/>
          <a:p>
            <a:r>
              <a:rPr sz="2500" b="1">
                <a:solidFill>
                  <a:srgbClr val="1F3864"/>
                </a:solidFill>
                <a:latin typeface="Arial"/>
              </a:rPr>
              <a:t>A separate finding: the released code scores one repeated frame, not a video</a:t>
            </a:r>
          </a:p>
          <a:p>
            <a:r>
              <a:rPr sz="1300" b="0">
                <a:solidFill>
                  <a:srgbClr val="555555"/>
                </a:solidFill>
                <a:latin typeface="Arial"/>
              </a:rPr>
              <a:t>At every step the reward model receives the current frame repeated 8 or 16 times; real clips exist only in their real-robot pipeline</a:t>
            </a:r>
          </a:p>
        </p:txBody>
      </p:sp>
      <p:sp>
        <p:nvSpPr>
          <p:cNvPr id="3" name="Rectangle 2"/>
          <p:cNvSpPr/>
          <p:nvPr/>
        </p:nvSpPr>
        <p:spPr>
          <a:xfrm>
            <a:off x="566928" y="1115568"/>
            <a:ext cx="2743200" cy="4114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5_framebug.png"/>
          <p:cNvPicPr>
            <a:picLocks noChangeAspect="1"/>
          </p:cNvPicPr>
          <p:nvPr/>
        </p:nvPicPr>
        <p:blipFill>
          <a:blip r:embed="rId2"/>
          <a:stretch>
            <a:fillRect/>
          </a:stretch>
        </p:blipFill>
        <p:spPr>
          <a:xfrm>
            <a:off x="1600609" y="1508760"/>
            <a:ext cx="8990477" cy="3566159"/>
          </a:xfrm>
          <a:prstGeom prst="rect">
            <a:avLst/>
          </a:prstGeom>
        </p:spPr>
      </p:pic>
      <p:sp>
        <p:nvSpPr>
          <p:cNvPr id="5" name="TextBox 4"/>
          <p:cNvSpPr txBox="1"/>
          <p:nvPr/>
        </p:nvSpPr>
        <p:spPr>
          <a:xfrm>
            <a:off x="822960" y="5303520"/>
            <a:ext cx="10607040" cy="1051560"/>
          </a:xfrm>
          <a:prstGeom prst="rect">
            <a:avLst/>
          </a:prstGeom>
          <a:noFill/>
        </p:spPr>
        <p:txBody>
          <a:bodyPr wrap="square">
            <a:spAutoFit/>
          </a:bodyPr>
          <a:lstStyle/>
          <a:p>
            <a:pPr algn="l">
              <a:lnSpc>
                <a:spcPct val="112000"/>
              </a:lnSpc>
            </a:pPr>
            <a:r>
              <a:rPr sz="1350" b="0">
                <a:solidFill>
                  <a:srgbClr val="1F3864"/>
                </a:solidFill>
                <a:latin typeface="Arial"/>
              </a:rPr>
              <a:t>The progress head survives because it effectively reads the state in the image. The success head must see the completion motion: on repeated frames it drops below the termination threshold on true successes, so success detection was silently disabled in every simulated run, ours and theirs.</a:t>
            </a:r>
          </a:p>
          <a:p>
            <a:pPr algn="l">
              <a:lnSpc>
                <a:spcPct val="112000"/>
              </a:lnSpc>
            </a:pPr>
            <a:r>
              <a:rPr sz="1350" b="0">
                <a:solidFill>
                  <a:srgbClr val="1F3864"/>
                </a:solidFill>
                <a:latin typeface="Arial"/>
              </a:rPr>
              <a:t>The bug even helps the baseline's training: a single-frame reward depends only on the current state, which is exactly what the learning algorithm assumes.</a:t>
            </a:r>
          </a:p>
        </p:txBody>
      </p:sp>
      <p:sp>
        <p:nvSpPr>
          <p:cNvPr id="6" name="TextBox 5"/>
          <p:cNvSpPr txBox="1"/>
          <p:nvPr/>
        </p:nvSpPr>
        <p:spPr>
          <a:xfrm>
            <a:off x="548640" y="6419088"/>
            <a:ext cx="11155680" cy="411480"/>
          </a:xfrm>
          <a:prstGeom prst="rect">
            <a:avLst/>
          </a:prstGeom>
          <a:noFill/>
        </p:spPr>
        <p:txBody>
          <a:bodyPr wrap="square">
            <a:spAutoFit/>
          </a:bodyPr>
          <a:lstStyle/>
          <a:p>
            <a:pPr algn="l">
              <a:lnSpc>
                <a:spcPct val="112000"/>
              </a:lnSpc>
            </a:pPr>
            <a:r>
              <a:rPr sz="1000" b="0">
                <a:solidFill>
                  <a:srgbClr val="555555"/>
                </a:solidFill>
                <a:latin typeface="Arial"/>
              </a:rPr>
              <a:t>Confirmed in the unmodified upstream code and live logs (every scoring call received one distinct frame). The paper describes the opposite input format.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155680" cy="960120"/>
          </a:xfrm>
          <a:prstGeom prst="rect">
            <a:avLst/>
          </a:prstGeom>
          <a:noFill/>
        </p:spPr>
        <p:txBody>
          <a:bodyPr wrap="square">
            <a:spAutoFit/>
          </a:bodyPr>
          <a:lstStyle/>
          <a:p>
            <a:r>
              <a:rPr sz="2500" b="1">
                <a:solidFill>
                  <a:srgbClr val="1F3864"/>
                </a:solidFill>
                <a:latin typeface="Arial"/>
              </a:rPr>
              <a:t>The proposed fix: read the top bin instead of the mean, no retraining</a:t>
            </a:r>
          </a:p>
          <a:p>
            <a:r>
              <a:rPr sz="1300" b="0">
                <a:solidFill>
                  <a:srgbClr val="555555"/>
                </a:solidFill>
                <a:latin typeface="Arial"/>
              </a:rPr>
              <a:t>The top bin is the model's stated probability that the task is complete</a:t>
            </a:r>
          </a:p>
        </p:txBody>
      </p:sp>
      <p:sp>
        <p:nvSpPr>
          <p:cNvPr id="3" name="Rectangle 2"/>
          <p:cNvSpPr/>
          <p:nvPr/>
        </p:nvSpPr>
        <p:spPr>
          <a:xfrm>
            <a:off x="566928" y="1115568"/>
            <a:ext cx="2743200" cy="4114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6_readout.png"/>
          <p:cNvPicPr>
            <a:picLocks noChangeAspect="1"/>
          </p:cNvPicPr>
          <p:nvPr/>
        </p:nvPicPr>
        <p:blipFill>
          <a:blip r:embed="rId2"/>
          <a:stretch>
            <a:fillRect/>
          </a:stretch>
        </p:blipFill>
        <p:spPr>
          <a:xfrm>
            <a:off x="1800564" y="1463040"/>
            <a:ext cx="8590566" cy="3566160"/>
          </a:xfrm>
          <a:prstGeom prst="rect">
            <a:avLst/>
          </a:prstGeom>
        </p:spPr>
      </p:pic>
      <p:sp>
        <p:nvSpPr>
          <p:cNvPr id="5" name="TextBox 4"/>
          <p:cNvSpPr txBox="1"/>
          <p:nvPr/>
        </p:nvSpPr>
        <p:spPr>
          <a:xfrm>
            <a:off x="822960" y="5212080"/>
            <a:ext cx="10607040" cy="1051560"/>
          </a:xfrm>
          <a:prstGeom prst="rect">
            <a:avLst/>
          </a:prstGeom>
          <a:noFill/>
        </p:spPr>
        <p:txBody>
          <a:bodyPr wrap="square">
            <a:spAutoFit/>
          </a:bodyPr>
          <a:lstStyle/>
          <a:p>
            <a:pPr algn="l">
              <a:lnSpc>
                <a:spcPct val="112000"/>
              </a:lnSpc>
            </a:pPr>
            <a:r>
              <a:rPr sz="1350" b="0">
                <a:solidFill>
                  <a:srgbClr val="1F3864"/>
                </a:solidFill>
                <a:latin typeface="Arial"/>
              </a:rPr>
              <a:t>For run2 the top-bin readout separates solved from failed 3.3 to 1 (the mean gives 1.8 to 1). One line of inference code, same forward pass.</a:t>
            </a:r>
          </a:p>
          <a:p>
            <a:pPr algn="l">
              <a:lnSpc>
                <a:spcPct val="112000"/>
              </a:lnSpc>
            </a:pPr>
            <a:r>
              <a:rPr sz="1350" b="0">
                <a:solidFill>
                  <a:srgbClr val="1F3864"/>
                </a:solidFill>
                <a:latin typeface="Arial"/>
              </a:rPr>
              <a:t>The readout must match the model: the baseline's single-peaked head is best read by the mean (its top-bin run lost performance, 60 versus 90 percent peak), our two-peaked heads by the top bin. This symmetry is the honest framing, not 'our readout is better'.</a:t>
            </a:r>
          </a:p>
        </p:txBody>
      </p:sp>
      <p:sp>
        <p:nvSpPr>
          <p:cNvPr id="6" name="TextBox 5"/>
          <p:cNvSpPr txBox="1"/>
          <p:nvPr/>
        </p:nvSpPr>
        <p:spPr>
          <a:xfrm>
            <a:off x="548640" y="6419088"/>
            <a:ext cx="11155680" cy="411480"/>
          </a:xfrm>
          <a:prstGeom prst="rect">
            <a:avLst/>
          </a:prstGeom>
          <a:noFill/>
        </p:spPr>
        <p:txBody>
          <a:bodyPr wrap="square">
            <a:spAutoFit/>
          </a:bodyPr>
          <a:lstStyle/>
          <a:p>
            <a:pPr algn="l">
              <a:lnSpc>
                <a:spcPct val="112000"/>
              </a:lnSpc>
            </a:pPr>
            <a:r>
              <a:rPr sz="1000" b="0">
                <a:solidFill>
                  <a:srgbClr val="555555"/>
                </a:solidFill>
                <a:latin typeface="Arial"/>
              </a:rPr>
              <a:t>Readouts computed from the same forward pass on the same clips as slide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155680" cy="960120"/>
          </a:xfrm>
          <a:prstGeom prst="rect">
            <a:avLst/>
          </a:prstGeom>
          <a:noFill/>
        </p:spPr>
        <p:txBody>
          <a:bodyPr wrap="square">
            <a:spAutoFit/>
          </a:bodyPr>
          <a:lstStyle/>
          <a:p>
            <a:r>
              <a:rPr sz="2500" b="1">
                <a:solidFill>
                  <a:srgbClr val="1F3864"/>
                </a:solidFill>
                <a:latin typeface="Arial"/>
              </a:rPr>
              <a:t>The success head on live policy data: ours has an operating point, the baseline does not</a:t>
            </a:r>
          </a:p>
          <a:p>
            <a:r>
              <a:rPr sz="1300" b="0">
                <a:solidFill>
                  <a:srgbClr val="555555"/>
                </a:solidFill>
                <a:latin typeface="Arial"/>
              </a:rPr>
              <a:t>Source: full-horizon episodes from yesterday's runs (baseline: its no-termination run; run2: its max-reward run, in which the success vote never actually ended episodes). Per episode: peak success probability versus ground-truth end state.</a:t>
            </a:r>
          </a:p>
        </p:txBody>
      </p:sp>
      <p:sp>
        <p:nvSpPr>
          <p:cNvPr id="3" name="Rectangle 2"/>
          <p:cNvSpPr/>
          <p:nvPr/>
        </p:nvSpPr>
        <p:spPr>
          <a:xfrm>
            <a:off x="566928" y="1115568"/>
            <a:ext cx="2743200" cy="4114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005840" y="1737360"/>
          <a:ext cx="10149836" cy="1554480"/>
        </p:xfrm>
        <a:graphic>
          <a:graphicData uri="http://schemas.openxmlformats.org/drawingml/2006/table">
            <a:tbl>
              <a:tblPr firstRow="1" bandRow="1">
                <a:tableStyleId>{5C22544A-7EE6-4342-B048-85BDC9FD1C3A}</a:tableStyleId>
              </a:tblPr>
              <a:tblGrid>
                <a:gridCol w="2651760"/>
                <a:gridCol w="1874519"/>
                <a:gridCol w="1874519"/>
                <a:gridCol w="1874519"/>
                <a:gridCol w="1874519"/>
              </a:tblGrid>
              <a:tr h="518160">
                <a:tc>
                  <a:txBody>
                    <a:bodyPr/>
                    <a:lstStyle/>
                    <a:p>
                      <a:pPr algn="l"/>
                    </a:p>
                  </a:txBody>
                  <a:tcPr/>
                </a:tc>
                <a:tc>
                  <a:txBody>
                    <a:bodyPr/>
                    <a:lstStyle/>
                    <a:p>
                      <a:pPr algn="ctr"/>
                      <a:r>
                        <a:rPr sz="1300" b="1">
                          <a:solidFill>
                            <a:srgbClr val="FFFFFF"/>
                          </a:solidFill>
                          <a:latin typeface="Arial"/>
                        </a:rPr>
                        <a:t>Separability (area under the curve)</a:t>
                      </a:r>
                    </a:p>
                  </a:txBody>
                  <a:tcPr/>
                </a:tc>
                <a:tc>
                  <a:txBody>
                    <a:bodyPr/>
                    <a:lstStyle/>
                    <a:p>
                      <a:pPr algn="ctr"/>
                      <a:r>
                        <a:rPr sz="1300" b="1">
                          <a:solidFill>
                            <a:srgbClr val="FFFFFF"/>
                          </a:solidFill>
                          <a:latin typeface="Arial"/>
                        </a:rPr>
                        <a:t>Calibrated threshold</a:t>
                      </a:r>
                    </a:p>
                  </a:txBody>
                  <a:tcPr/>
                </a:tc>
                <a:tc>
                  <a:txBody>
                    <a:bodyPr/>
                    <a:lstStyle/>
                    <a:p>
                      <a:pPr algn="ctr"/>
                      <a:r>
                        <a:rPr sz="1300" b="1">
                          <a:solidFill>
                            <a:srgbClr val="FFFFFF"/>
                          </a:solidFill>
                          <a:latin typeface="Arial"/>
                        </a:rPr>
                        <a:t>Detection rate</a:t>
                      </a:r>
                    </a:p>
                  </a:txBody>
                  <a:tcPr/>
                </a:tc>
                <a:tc>
                  <a:txBody>
                    <a:bodyPr/>
                    <a:lstStyle/>
                    <a:p>
                      <a:pPr algn="ctr"/>
                      <a:r>
                        <a:rPr sz="1300" b="1">
                          <a:solidFill>
                            <a:srgbClr val="FFFFFF"/>
                          </a:solidFill>
                          <a:latin typeface="Arial"/>
                        </a:rPr>
                        <a:t>False alarm rate</a:t>
                      </a:r>
                    </a:p>
                  </a:txBody>
                  <a:tcPr/>
                </a:tc>
              </a:tr>
              <a:tr h="518160">
                <a:tc>
                  <a:txBody>
                    <a:bodyPr/>
                    <a:lstStyle/>
                    <a:p>
                      <a:pPr algn="l"/>
                      <a:r>
                        <a:rPr sz="1300" b="1">
                          <a:solidFill>
                            <a:srgbClr val="1F3864"/>
                          </a:solidFill>
                          <a:latin typeface="Arial"/>
                        </a:rPr>
                        <a:t>run2 (ours)</a:t>
                      </a:r>
                    </a:p>
                  </a:txBody>
                  <a:tcPr/>
                </a:tc>
                <a:tc>
                  <a:txBody>
                    <a:bodyPr/>
                    <a:lstStyle/>
                    <a:p>
                      <a:pPr algn="ctr"/>
                      <a:r>
                        <a:rPr sz="1300" b="0">
                          <a:solidFill>
                            <a:srgbClr val="1F3864"/>
                          </a:solidFill>
                          <a:latin typeface="Arial"/>
                        </a:rPr>
                        <a:t>0.92</a:t>
                      </a:r>
                    </a:p>
                  </a:txBody>
                  <a:tcPr/>
                </a:tc>
                <a:tc>
                  <a:txBody>
                    <a:bodyPr/>
                    <a:lstStyle/>
                    <a:p>
                      <a:pPr algn="ctr"/>
                      <a:r>
                        <a:rPr sz="1300" b="0">
                          <a:solidFill>
                            <a:srgbClr val="1F3864"/>
                          </a:solidFill>
                          <a:latin typeface="Arial"/>
                        </a:rPr>
                        <a:t>0.85</a:t>
                      </a:r>
                    </a:p>
                  </a:txBody>
                  <a:tcPr/>
                </a:tc>
                <a:tc>
                  <a:txBody>
                    <a:bodyPr/>
                    <a:lstStyle/>
                    <a:p>
                      <a:pPr algn="ctr"/>
                      <a:r>
                        <a:rPr sz="1300" b="0">
                          <a:solidFill>
                            <a:srgbClr val="1F3864"/>
                          </a:solidFill>
                          <a:latin typeface="Arial"/>
                        </a:rPr>
                        <a:t>89 percent</a:t>
                      </a:r>
                    </a:p>
                  </a:txBody>
                  <a:tcPr/>
                </a:tc>
                <a:tc>
                  <a:txBody>
                    <a:bodyPr/>
                    <a:lstStyle/>
                    <a:p>
                      <a:pPr algn="ctr"/>
                      <a:r>
                        <a:rPr sz="1300" b="0">
                          <a:solidFill>
                            <a:srgbClr val="1F3864"/>
                          </a:solidFill>
                          <a:latin typeface="Arial"/>
                        </a:rPr>
                        <a:t>14 percent</a:t>
                      </a:r>
                    </a:p>
                  </a:txBody>
                  <a:tcPr/>
                </a:tc>
              </a:tr>
              <a:tr h="518160">
                <a:tc>
                  <a:txBody>
                    <a:bodyPr/>
                    <a:lstStyle/>
                    <a:p>
                      <a:pPr algn="l"/>
                      <a:r>
                        <a:rPr sz="1300" b="1">
                          <a:solidFill>
                            <a:srgbClr val="1F3864"/>
                          </a:solidFill>
                          <a:latin typeface="Arial"/>
                        </a:rPr>
                        <a:t>Robometer-4B (baseline)</a:t>
                      </a:r>
                    </a:p>
                  </a:txBody>
                  <a:tcPr/>
                </a:tc>
                <a:tc>
                  <a:txBody>
                    <a:bodyPr/>
                    <a:lstStyle/>
                    <a:p>
                      <a:pPr algn="ctr"/>
                      <a:r>
                        <a:rPr sz="1300" b="0">
                          <a:solidFill>
                            <a:srgbClr val="1F3864"/>
                          </a:solidFill>
                          <a:latin typeface="Arial"/>
                        </a:rPr>
                        <a:t>0.67</a:t>
                      </a:r>
                    </a:p>
                  </a:txBody>
                  <a:tcPr/>
                </a:tc>
                <a:tc>
                  <a:txBody>
                    <a:bodyPr/>
                    <a:lstStyle/>
                    <a:p>
                      <a:pPr algn="ctr"/>
                      <a:r>
                        <a:rPr sz="1300" b="0">
                          <a:solidFill>
                            <a:srgbClr val="1F3864"/>
                          </a:solidFill>
                          <a:latin typeface="Arial"/>
                        </a:rPr>
                        <a:t>0.965 (best possible)</a:t>
                      </a:r>
                    </a:p>
                  </a:txBody>
                  <a:tcPr/>
                </a:tc>
                <a:tc>
                  <a:txBody>
                    <a:bodyPr/>
                    <a:lstStyle/>
                    <a:p>
                      <a:pPr algn="ctr"/>
                      <a:r>
                        <a:rPr sz="1300" b="0">
                          <a:solidFill>
                            <a:srgbClr val="1F3864"/>
                          </a:solidFill>
                          <a:latin typeface="Arial"/>
                        </a:rPr>
                        <a:t>92 percent</a:t>
                      </a:r>
                    </a:p>
                  </a:txBody>
                  <a:tcPr/>
                </a:tc>
                <a:tc>
                  <a:txBody>
                    <a:bodyPr/>
                    <a:lstStyle/>
                    <a:p>
                      <a:pPr algn="ctr"/>
                      <a:r>
                        <a:rPr sz="1300" b="0">
                          <a:solidFill>
                            <a:srgbClr val="1F3864"/>
                          </a:solidFill>
                          <a:latin typeface="Arial"/>
                        </a:rPr>
                        <a:t>54 percent</a:t>
                      </a:r>
                    </a:p>
                  </a:txBody>
                  <a:tcPr/>
                </a:tc>
              </a:tr>
            </a:tbl>
          </a:graphicData>
        </a:graphic>
      </p:graphicFrame>
      <p:sp>
        <p:nvSpPr>
          <p:cNvPr id="5" name="TextBox 4"/>
          <p:cNvSpPr txBox="1"/>
          <p:nvPr/>
        </p:nvSpPr>
        <p:spPr>
          <a:xfrm>
            <a:off x="822960" y="3749039"/>
            <a:ext cx="10607040" cy="1737360"/>
          </a:xfrm>
          <a:prstGeom prst="rect">
            <a:avLst/>
          </a:prstGeom>
          <a:noFill/>
        </p:spPr>
        <p:txBody>
          <a:bodyPr wrap="square">
            <a:spAutoFit/>
          </a:bodyPr>
          <a:lstStyle/>
          <a:p>
            <a:pPr algn="l">
              <a:lnSpc>
                <a:spcPct val="112000"/>
              </a:lnSpc>
            </a:pPr>
            <a:r>
              <a:rPr sz="1350" b="0">
                <a:solidFill>
                  <a:srgbClr val="1F3864"/>
                </a:solidFill>
                <a:latin typeface="Arial"/>
              </a:rPr>
              <a:t>run2 separates solved from failed episodes well enough to operate: at threshold 0.85 it detects 89 percent of successes with 14 percent false alarms.</a:t>
            </a:r>
          </a:p>
          <a:p>
            <a:pPr algn="l">
              <a:lnSpc>
                <a:spcPct val="112000"/>
              </a:lnSpc>
            </a:pPr>
            <a:r>
              <a:rPr sz="1350" b="0">
                <a:solidFill>
                  <a:srgbClr val="1F3864"/>
                </a:solidFill>
                <a:latin typeface="Arial"/>
              </a:rPr>
              <a:t>For the baseline, solved and failed episodes both read about 0.97, so every threshold either misses successes or fires on half of the failures. This measured gap is the concrete value of training with failure data.</a:t>
            </a:r>
          </a:p>
          <a:p>
            <a:pPr algn="l">
              <a:lnSpc>
                <a:spcPct val="112000"/>
              </a:lnSpc>
            </a:pPr>
            <a:r>
              <a:rPr sz="1350" b="0">
                <a:solidFill>
                  <a:srgbClr val="1F3864"/>
                </a:solidFill>
                <a:latin typeface="Arial"/>
              </a:rPr>
              <a:t/>
            </a:r>
          </a:p>
          <a:p>
            <a:pPr algn="l">
              <a:lnSpc>
                <a:spcPct val="112000"/>
              </a:lnSpc>
            </a:pPr>
            <a:r>
              <a:rPr sz="1350" b="0">
                <a:solidFill>
                  <a:srgbClr val="1F3864"/>
                </a:solidFill>
                <a:latin typeface="Arial"/>
              </a:rPr>
              <a:t>We also found and fixed a second code issue: in the released simulation code the success vote never actually ended the episode (it only marked the stored transition as terminal, which corrupts the value targets). Our corrected version really terminates and resets.</a:t>
            </a:r>
          </a:p>
        </p:txBody>
      </p:sp>
      <p:sp>
        <p:nvSpPr>
          <p:cNvPr id="6" name="TextBox 5"/>
          <p:cNvSpPr txBox="1"/>
          <p:nvPr/>
        </p:nvSpPr>
        <p:spPr>
          <a:xfrm>
            <a:off x="548640" y="6419088"/>
            <a:ext cx="11155680" cy="411480"/>
          </a:xfrm>
          <a:prstGeom prst="rect">
            <a:avLst/>
          </a:prstGeom>
          <a:noFill/>
        </p:spPr>
        <p:txBody>
          <a:bodyPr wrap="square">
            <a:spAutoFit/>
          </a:bodyPr>
          <a:lstStyle/>
          <a:p>
            <a:pPr algn="l">
              <a:lnSpc>
                <a:spcPct val="112000"/>
              </a:lnSpc>
            </a:pPr>
            <a:r>
              <a:rPr sz="1000" b="0">
                <a:solidFill>
                  <a:srgbClr val="555555"/>
                </a:solidFill>
                <a:latin typeface="Arial"/>
              </a:rPr>
              <a:t>run2: 9 solved and 215 failed episodes; baseline: 134 and 115. This table is the INPUT to the new true-termination runs launched today: run2 operates at 0.85 and the baseline at 0.965, each its own best threshold. Their curves are the next result, not shown 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155680" cy="960120"/>
          </a:xfrm>
          <a:prstGeom prst="rect">
            <a:avLst/>
          </a:prstGeom>
          <a:noFill/>
        </p:spPr>
        <p:txBody>
          <a:bodyPr wrap="square">
            <a:spAutoFit/>
          </a:bodyPr>
          <a:lstStyle/>
          <a:p>
            <a:r>
              <a:rPr sz="2500" b="1">
                <a:solidFill>
                  <a:srgbClr val="1F3864"/>
                </a:solidFill>
                <a:latin typeface="Arial"/>
              </a:rPr>
              <a:t>Early downstream evidence: both fixes were leading when the nodes were reclaimed</a:t>
            </a:r>
          </a:p>
          <a:p>
            <a:r>
              <a:rPr sz="1300" b="0">
                <a:solidFill>
                  <a:srgbClr val="555555"/>
                </a:solidFill>
                <a:latin typeface="Arial"/>
              </a:rPr>
              <a:t>Interrupted runs marked with a cross; all are repeating now on stable on-demand nodes</a:t>
            </a:r>
          </a:p>
        </p:txBody>
      </p:sp>
      <p:sp>
        <p:nvSpPr>
          <p:cNvPr id="3" name="Rectangle 2"/>
          <p:cNvSpPr/>
          <p:nvPr/>
        </p:nvSpPr>
        <p:spPr>
          <a:xfrm>
            <a:off x="566928" y="1115568"/>
            <a:ext cx="2743200" cy="4114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7_early.png"/>
          <p:cNvPicPr>
            <a:picLocks noChangeAspect="1"/>
          </p:cNvPicPr>
          <p:nvPr/>
        </p:nvPicPr>
        <p:blipFill>
          <a:blip r:embed="rId2"/>
          <a:stretch>
            <a:fillRect/>
          </a:stretch>
        </p:blipFill>
        <p:spPr>
          <a:xfrm>
            <a:off x="776216" y="1463040"/>
            <a:ext cx="10639263" cy="3657600"/>
          </a:xfrm>
          <a:prstGeom prst="rect">
            <a:avLst/>
          </a:prstGeom>
        </p:spPr>
      </p:pic>
      <p:sp>
        <p:nvSpPr>
          <p:cNvPr id="5" name="TextBox 4"/>
          <p:cNvSpPr txBox="1"/>
          <p:nvPr/>
        </p:nvSpPr>
        <p:spPr>
          <a:xfrm>
            <a:off x="822960" y="5303520"/>
            <a:ext cx="10607040" cy="914400"/>
          </a:xfrm>
          <a:prstGeom prst="rect">
            <a:avLst/>
          </a:prstGeom>
          <a:noFill/>
        </p:spPr>
        <p:txBody>
          <a:bodyPr wrap="square">
            <a:spAutoFit/>
          </a:bodyPr>
          <a:lstStyle/>
          <a:p>
            <a:pPr algn="l">
              <a:lnSpc>
                <a:spcPct val="112000"/>
              </a:lnSpc>
            </a:pPr>
            <a:r>
              <a:rPr sz="1350" b="0">
                <a:solidFill>
                  <a:srgbClr val="1F3864"/>
                </a:solidFill>
                <a:latin typeface="Arial"/>
              </a:rPr>
              <a:t>run2 with the top-bin readout reached 100 percent at 50 thousand steps. run2 with success-head termination at the calibrated threshold reached 100 percent already at 20 thousand steps, with 12 percent false terminations, matching the calibration's prediction.</a:t>
            </a:r>
          </a:p>
          <a:p>
            <a:pPr algn="l">
              <a:lnSpc>
                <a:spcPct val="112000"/>
              </a:lnSpc>
            </a:pPr>
            <a:r>
              <a:rPr sz="1350" b="0">
                <a:solidFill>
                  <a:srgbClr val="1F3864"/>
                </a:solidFill>
                <a:latin typeface="Arial"/>
              </a:rPr>
              <a:t>Rerunning now: run2 and run3 with the top-bin readout, and run2 and the baseline with success-head termination, each at its own calibrated threshold.</a:t>
            </a:r>
          </a:p>
        </p:txBody>
      </p:sp>
      <p:sp>
        <p:nvSpPr>
          <p:cNvPr id="6" name="TextBox 5"/>
          <p:cNvSpPr txBox="1"/>
          <p:nvPr/>
        </p:nvSpPr>
        <p:spPr>
          <a:xfrm>
            <a:off x="548640" y="6419088"/>
            <a:ext cx="11155680" cy="411480"/>
          </a:xfrm>
          <a:prstGeom prst="rect">
            <a:avLst/>
          </a:prstGeom>
          <a:noFill/>
        </p:spPr>
        <p:txBody>
          <a:bodyPr wrap="square">
            <a:spAutoFit/>
          </a:bodyPr>
          <a:lstStyle/>
          <a:p>
            <a:pPr algn="l">
              <a:lnSpc>
                <a:spcPct val="112000"/>
              </a:lnSpc>
            </a:pPr>
            <a:r>
              <a:rPr sz="1000" b="0">
                <a:solidFill>
                  <a:srgbClr val="555555"/>
                </a:solidFill>
                <a:latin typeface="Arial"/>
              </a:rPr>
              <a:t>Single seed per configuration; the gray reference curve is the same run2 decay curve as slide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155680" cy="960120"/>
          </a:xfrm>
          <a:prstGeom prst="rect">
            <a:avLst/>
          </a:prstGeom>
          <a:noFill/>
        </p:spPr>
        <p:txBody>
          <a:bodyPr wrap="square">
            <a:spAutoFit/>
          </a:bodyPr>
          <a:lstStyle/>
          <a:p>
            <a:r>
              <a:rPr sz="2500" b="1">
                <a:solidFill>
                  <a:srgbClr val="1F3864"/>
                </a:solidFill>
                <a:latin typeface="Arial"/>
              </a:rPr>
              <a:t>Where this leaves us</a:t>
            </a:r>
          </a:p>
        </p:txBody>
      </p:sp>
      <p:sp>
        <p:nvSpPr>
          <p:cNvPr id="3" name="Rectangle 2"/>
          <p:cNvSpPr/>
          <p:nvPr/>
        </p:nvSpPr>
        <p:spPr>
          <a:xfrm>
            <a:off x="566928" y="1115568"/>
            <a:ext cx="2743200" cy="4114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789920" cy="2103120"/>
          </a:xfrm>
          <a:prstGeom prst="rect">
            <a:avLst/>
          </a:prstGeom>
          <a:noFill/>
        </p:spPr>
        <p:txBody>
          <a:bodyPr wrap="square">
            <a:spAutoFit/>
          </a:bodyPr>
          <a:lstStyle/>
          <a:p>
            <a:pPr algn="l">
              <a:lnSpc>
                <a:spcPct val="112000"/>
              </a:lnSpc>
            </a:pPr>
            <a:r>
              <a:rPr sz="1400" b="0">
                <a:solidFill>
                  <a:srgbClr val="1F3864"/>
                </a:solidFill>
                <a:latin typeface="Arial"/>
              </a:rPr>
              <a:t>Path A, no retraining (being tested right now)</a:t>
            </a:r>
          </a:p>
          <a:p>
            <a:pPr algn="l">
              <a:lnSpc>
                <a:spcPct val="112000"/>
              </a:lnSpc>
            </a:pPr>
            <a:r>
              <a:rPr sz="1400" b="0">
                <a:solidFill>
                  <a:srgbClr val="1F3864"/>
                </a:solidFill>
                <a:latin typeface="Arial"/>
              </a:rPr>
              <a:t>Top-bin readout for the progress reward, plus success-head termination at a calibrated threshold. If the reruns hold through 100 thousand steps, the LIBERO story is complete with inference-level fixes only.</a:t>
            </a:r>
          </a:p>
        </p:txBody>
      </p:sp>
      <p:sp>
        <p:nvSpPr>
          <p:cNvPr id="5" name="TextBox 4"/>
          <p:cNvSpPr txBox="1"/>
          <p:nvPr/>
        </p:nvSpPr>
        <p:spPr>
          <a:xfrm>
            <a:off x="822960" y="3291840"/>
            <a:ext cx="10789920" cy="2011680"/>
          </a:xfrm>
          <a:prstGeom prst="rect">
            <a:avLst/>
          </a:prstGeom>
          <a:noFill/>
        </p:spPr>
        <p:txBody>
          <a:bodyPr wrap="square">
            <a:spAutoFit/>
          </a:bodyPr>
          <a:lstStyle/>
          <a:p>
            <a:pPr algn="l">
              <a:lnSpc>
                <a:spcPct val="112000"/>
              </a:lnSpc>
            </a:pPr>
            <a:r>
              <a:rPr sz="1400" b="0">
                <a:solidFill>
                  <a:srgbClr val="1F3864"/>
                </a:solidFill>
                <a:latin typeface="Arial"/>
              </a:rPr>
              <a:t>Path B, one more fine-tune (planned)</a:t>
            </a:r>
          </a:p>
          <a:p>
            <a:pPr algn="l">
              <a:lnSpc>
                <a:spcPct val="112000"/>
              </a:lnSpc>
            </a:pPr>
            <a:r>
              <a:rPr sz="1400" b="0">
                <a:solidFill>
                  <a:srgbClr val="1F3864"/>
                </a:solidFill>
                <a:latin typeface="Arial"/>
              </a:rPr>
              <a:t>Restore progress targets measured against the whole episode, keep the asymmetric loss only on the success head, and remove LIBERO-90 from the training data so it becomes a clean held-out evaluation with exactly the baseline's LIBERO exposure.</a:t>
            </a:r>
          </a:p>
        </p:txBody>
      </p:sp>
      <p:sp>
        <p:nvSpPr>
          <p:cNvPr id="6" name="TextBox 5"/>
          <p:cNvSpPr txBox="1"/>
          <p:nvPr/>
        </p:nvSpPr>
        <p:spPr>
          <a:xfrm>
            <a:off x="822960" y="5029200"/>
            <a:ext cx="10789920" cy="1188720"/>
          </a:xfrm>
          <a:prstGeom prst="rect">
            <a:avLst/>
          </a:prstGeom>
          <a:noFill/>
        </p:spPr>
        <p:txBody>
          <a:bodyPr wrap="square">
            <a:spAutoFit/>
          </a:bodyPr>
          <a:lstStyle/>
          <a:p>
            <a:pPr algn="l">
              <a:lnSpc>
                <a:spcPct val="112000"/>
              </a:lnSpc>
            </a:pPr>
            <a:r>
              <a:rPr sz="1400" b="0">
                <a:solidFill>
                  <a:srgbClr val="1F3864"/>
                </a:solidFill>
                <a:latin typeface="Arial"/>
              </a:rPr>
              <a:t>Independent of both paths</a:t>
            </a:r>
          </a:p>
          <a:p>
            <a:pPr algn="l">
              <a:lnSpc>
                <a:spcPct val="112000"/>
              </a:lnSpc>
            </a:pPr>
            <a:r>
              <a:rPr sz="1400" b="0">
                <a:solidFill>
                  <a:srgbClr val="1F3864"/>
                </a:solidFill>
                <a:latin typeface="Arial"/>
              </a:rPr>
              <a:t>The repeated-frame input and the success vote that never terminates mean the simulated reinforcement learning results in the paper should be read with care; we now run corrected versions of both mechanisms.</a:t>
            </a:r>
          </a:p>
        </p:txBody>
      </p:sp>
      <p:sp>
        <p:nvSpPr>
          <p:cNvPr id="7" name="Rectangle 6"/>
          <p:cNvSpPr/>
          <p:nvPr/>
        </p:nvSpPr>
        <p:spPr>
          <a:xfrm>
            <a:off x="566928" y="1600200"/>
            <a:ext cx="54864" cy="50292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3337560"/>
            <a:ext cx="54864" cy="5029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74920"/>
            <a:ext cx="54864" cy="50292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