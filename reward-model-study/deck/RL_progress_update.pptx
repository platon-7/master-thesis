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Arial"/>
              </a:rPr>
              <a:t>Autonomous RL with VLM Reward Models</a:t>
            </a:r>
          </a:p>
          <a:p>
            <a:pPr>
              <a:spcAft>
                <a:spcPts val="600"/>
              </a:spcAft>
            </a:pPr>
            <a:r>
              <a:rPr sz="1600" b="0" i="1">
                <a:solidFill>
                  <a:srgbClr val="555555"/>
                </a:solidFill>
                <a:latin typeface="Arial"/>
              </a:rPr>
              <a:t>Results update — follows last week's reward-model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93392"/>
            <a:ext cx="4023360" cy="50800"/>
          </a:xfrm>
          <a:prstGeom prst="rect">
            <a:avLst/>
          </a:prstGeom>
          <a:solidFill>
            <a:srgbClr val="2E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606040"/>
            <a:ext cx="3383280" cy="192024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spcAft>
                <a:spcPts val="600"/>
              </a:spcAft>
            </a:pPr>
            <a:r>
              <a:rPr sz="3800" b="1" i="0">
                <a:solidFill>
                  <a:srgbClr val="1F3864"/>
                </a:solidFill>
                <a:latin typeface="Arial"/>
              </a:rPr>
              <a:t>0.65 – 0.70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true success rate of the best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autonomous runs (CoffeePush)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606040"/>
            <a:ext cx="3383280" cy="192024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spcAft>
                <a:spcPts val="600"/>
              </a:spcAft>
            </a:pPr>
            <a:r>
              <a:rPr sz="3800" b="1" i="0">
                <a:solidFill>
                  <a:srgbClr val="1F3864"/>
                </a:solidFill>
                <a:latin typeface="Arial"/>
              </a:rPr>
              <a:t>0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ground-truth signals used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during RL 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2606040"/>
            <a:ext cx="3383280" cy="192024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177800" rIns="177800"/>
          <a:lstStyle/>
          <a:p>
            <a:pPr algn="ctr">
              <a:spcAft>
                <a:spcPts val="600"/>
              </a:spcAft>
            </a:pPr>
            <a:r>
              <a:rPr sz="3800" b="1" i="0">
                <a:solidFill>
                  <a:srgbClr val="1F3864"/>
                </a:solidFill>
                <a:latin typeface="Arial"/>
              </a:rPr>
              <a:t>288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runs in the controlled sweep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that isolates what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834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555555"/>
                </a:solidFill>
                <a:latin typeface="Arial"/>
              </a:rPr>
              <a:t>Setting: the reward model watches the episode, provides the reward, and decides by itself when the task is solved — the episode ends on the model's decision, never on the simulator's success signal. Reported success is measured afterwards with ground truth, on separate evaluation episodes.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3864"/>
                </a:solidFill>
                <a:latin typeface="Arial"/>
              </a:rPr>
              <a:t>Last week: strong offline metrics, RL not yet working.   This week: autonomous RL works — under specific, now-understood conditions.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 i="0">
                <a:solidFill>
                  <a:srgbClr val="1F3864"/>
                </a:solidFill>
                <a:latin typeface="Arial"/>
              </a:rPr>
              <a:t>Which design actually trains? — 288-run sweep on CoffeePush</a:t>
            </a:r>
          </a:p>
          <a:p>
            <a:pPr>
              <a:spcAft>
                <a:spcPts val="0"/>
              </a:spcAft>
            </a:pPr>
            <a:r>
              <a:rPr sz="1300" b="0" i="1">
                <a:solidFill>
                  <a:srgbClr val="555555"/>
                </a:solidFill>
                <a:latin typeface="Arial"/>
              </a:rPr>
              <a:t>All 8 combinations of {reward model} × {which head detects success} × {which head provides reward}, everything else swept inside each row.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2743200" cy="38100"/>
          </a:xfrm>
          <a:prstGeom prst="rect">
            <a:avLst/>
          </a:prstGeom>
          <a:solidFill>
            <a:srgbClr val="2E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6766560" cy="3209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1371600"/>
                <a:gridCol w="1371600"/>
                <a:gridCol w="777240"/>
                <a:gridCol w="777240"/>
                <a:gridCol w="1051560"/>
              </a:tblGrid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Reward model</a:t>
                      </a:r>
                    </a:p>
                  </a:txBody>
                  <a:tcPr marT="25400" marB="25400" marL="63500" marR="50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Detects success</a:t>
                      </a:r>
                    </a:p>
                  </a:txBody>
                  <a:tcPr marT="25400" marB="25400" marL="63500" marR="50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Provides reward</a:t>
                      </a:r>
                    </a:p>
                  </a:txBody>
                  <a:tcPr marT="25400" marB="25400" marL="63500" marR="50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Mean</a:t>
                      </a:r>
                    </a:p>
                  </a:txBody>
                  <a:tcPr marT="25400" marB="25400" marL="63500" marR="50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Best</a:t>
                      </a:r>
                    </a:p>
                  </a:txBody>
                  <a:tcPr marT="25400" marB="25400" marL="63500" marR="50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Runs ≥ 0.50</a:t>
                      </a:r>
                    </a:p>
                  </a:txBody>
                  <a:tcPr marT="25400" marB="25400" marL="63500" marR="50800" anchor="ctr">
                    <a:solidFill>
                      <a:srgbClr val="1F386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3864"/>
                          </a:solidFill>
                          <a:latin typeface="Arial"/>
                        </a:rPr>
                        <a:t>Fine-tuned</a:t>
                      </a:r>
                    </a:p>
                  </a:txBody>
                  <a:tcPr marT="25400" marB="25400" marL="63500" marR="50800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Arial"/>
                        </a:rPr>
                        <a:t>success head</a:t>
                      </a:r>
                    </a:p>
                  </a:txBody>
                  <a:tcPr marT="25400" marB="25400" marL="63500" marR="50800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Arial"/>
                        </a:rPr>
                        <a:t>success head</a:t>
                      </a:r>
                    </a:p>
                  </a:txBody>
                  <a:tcPr marT="25400" marB="25400" marL="63500" marR="50800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E6B2E"/>
                          </a:solidFill>
                          <a:latin typeface="Arial"/>
                        </a:rPr>
                        <a:t>0.18</a:t>
                      </a:r>
                    </a:p>
                  </a:txBody>
                  <a:tcPr marT="25400" marB="25400" marL="63500" marR="50800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E6B2E"/>
                          </a:solidFill>
                          <a:latin typeface="Arial"/>
                        </a:rPr>
                        <a:t>0.70</a:t>
                      </a:r>
                    </a:p>
                  </a:txBody>
                  <a:tcPr marT="25400" marB="25400" marL="63500" marR="50800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E6B2E"/>
                          </a:solidFill>
                          <a:latin typeface="Arial"/>
                        </a:rPr>
                        <a:t>5 / 36</a:t>
                      </a:r>
                    </a:p>
                  </a:txBody>
                  <a:tcPr marT="25400" marB="25400" marL="63500" marR="50800" anchor="ctr">
                    <a:solidFill>
                      <a:srgbClr val="E6EEF6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Fine-tuned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success head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progress head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0.07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0.45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0 / 36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Fine-tuned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progress head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success head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0.01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0.05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0 / 36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Fine-tuned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progress head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progress head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0.01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0.40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0 / 36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Off-the-shelf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success head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success head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0.01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0.10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0 / 36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Off-the-shelf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success head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progress head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0.04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0.35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0 / 36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Off-the-shelf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progress head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success head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0.01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0.25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0 / 36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Off-the-shelf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progress head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progress head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0.03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0.25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0 / 36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35240" y="1691640"/>
            <a:ext cx="4069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3864"/>
                </a:solidFill>
                <a:latin typeface="Arial"/>
              </a:rPr>
              <a:t>What the winning row needs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•  Fine-tuned reward model — the off-the-shelf model never reaches 0.50 anywhere (best 0.35).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•  Success head for detection — ending episodes on the progress head fires mid-task and kills learning.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•  Reward only at episode end (sparse). Per-step reward never produces a successful run.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•  Detection threshold 0.80 – 0.85. At 0.90 the model never says “solved” → no reward → no learning.</a:t>
            </a:r>
          </a:p>
          <a:p>
            <a:pPr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Arial"/>
              </a:rPr>
              <a:t>Within the winning configuration, roughly 1 seed in 3 succeeds — the result is real but not yet stable.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893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Arial"/>
              </a:rPr>
              <a:t>Each row aggregates 36 runs: 3 detection thresholds × reward at episode end vs every step × 1 vs 3 consecutive detections required × 3 seeds (8 × 36 = 288). “Mean / Best” = final true success; “Runs ≥ 0.50” = runs ending at or above 0.50.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 i="0">
                <a:solidFill>
                  <a:srgbClr val="1F3864"/>
                </a:solidFill>
                <a:latin typeface="Arial"/>
              </a:rPr>
              <a:t>New: how reliable is the success detector on each task?</a:t>
            </a:r>
          </a:p>
          <a:p>
            <a:pPr>
              <a:spcAft>
                <a:spcPts val="0"/>
              </a:spcAft>
            </a:pPr>
            <a:r>
              <a:rPr sz="1300" b="0" i="1">
                <a:solidFill>
                  <a:srgbClr val="555555"/>
                </a:solidFill>
                <a:latin typeface="Arial"/>
              </a:rPr>
              <a:t>Fine-tuned model, measured without RL: 15 successful + 15 failed scripted episodes per task; the detector watches each episode as it unfolds, exactly as it would in RL.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2743200" cy="38100"/>
          </a:xfrm>
          <a:prstGeom prst="rect">
            <a:avLst/>
          </a:prstGeom>
          <a:solidFill>
            <a:srgbClr val="2E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6424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1234440"/>
                <a:gridCol w="1691640"/>
                <a:gridCol w="1828800"/>
                <a:gridCol w="1920240"/>
                <a:gridCol w="30175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T="25400" marB="25400" marL="63500" marR="50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Best threshold</a:t>
                      </a:r>
                    </a:p>
                  </a:txBody>
                  <a:tcPr marT="25400" marB="25400" marL="63500" marR="50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Detects true success</a:t>
                      </a:r>
                    </a:p>
                  </a:txBody>
                  <a:tcPr marT="25400" marB="25400" marL="63500" marR="50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False alarms on failures</a:t>
                      </a:r>
                    </a:p>
                  </a:txBody>
                  <a:tcPr marT="25400" marB="25400" marL="63500" marR="50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Fires before success</a:t>
                      </a:r>
                    </a:p>
                  </a:txBody>
                  <a:tcPr marT="25400" marB="25400" marL="63500" marR="50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 marT="25400" marB="25400" marL="63500" marR="50800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CoffeePush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0.85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73 %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27 %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E6B2E"/>
                          </a:solidFill>
                          <a:latin typeface="Arial"/>
                        </a:rPr>
                        <a:t>Leaky but sufficient — RL trains here (proven)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StickPull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0.70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87 %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7 %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20 %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E6B2E"/>
                          </a:solidFill>
                          <a:latin typeface="Arial"/>
                        </a:rPr>
                        <a:t>Good — best candidate for transfer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BoxClose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0.85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100 %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13 %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60 % → 20 % with demo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66000"/>
                          </a:solidFill>
                          <a:latin typeface="Arial"/>
                        </a:rPr>
                        <a:t>Workable if early firing is handled</a:t>
                      </a:r>
                    </a:p>
                  </a:txBody>
                  <a:tcPr marT="25400" marB="25400" marL="63500" marR="508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Assembly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38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B01E2E"/>
                          </a:solidFill>
                          <a:latin typeface="Arial"/>
                        </a:rPr>
                        <a:t>Unusable — success and failure overlap</a:t>
                      </a:r>
                    </a:p>
                  </a:txBody>
                  <a:tcPr marT="25400" marB="25400" marL="63500" marR="50800" anchor="ctr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88620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3864"/>
                </a:solidFill>
                <a:latin typeface="Arial"/>
              </a:rPr>
              <a:t>Two further findings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•  The progress head cannot be used to decide termination on any task: it also rises on failed episodes (failure scores 0.3 – 0.7), so every threshold either fires constantly or never. As a reward magnitude it is fine (best run 0.45) — it must simply never end the episode.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•  Adding an in-context demonstration at inference is task-dependent: it fixes BoxClose’s early firing (60 % → 20 %) and improves StickPull, but degrades CoffeePush and Assembly — useful as a per-task option, not a global fix.</a:t>
            </a:r>
          </a:p>
          <a:p>
            <a:pPr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Arial"/>
              </a:rPr>
              <a:t>Rates are from 15 + 15 episodes per task (±13 %); read as ranges, not exact values.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 i="0">
                <a:solidFill>
                  <a:srgbClr val="1F3864"/>
                </a:solidFill>
                <a:latin typeface="Arial"/>
              </a:rPr>
              <a:t>In progress</a:t>
            </a:r>
          </a:p>
          <a:p>
            <a:pPr>
              <a:spcAft>
                <a:spcPts val="0"/>
              </a:spcAft>
            </a:pPr>
            <a:r>
              <a:rPr sz="1300" b="0" i="1">
                <a:solidFill>
                  <a:srgbClr val="555555"/>
                </a:solidFill>
                <a:latin typeface="Arial"/>
              </a:rPr>
              <a:t>All runs use the winning recipe; thresholds set per task and per model from the calibration above.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2743200" cy="38100"/>
          </a:xfrm>
          <a:prstGeom prst="rect">
            <a:avLst/>
          </a:prstGeom>
          <a:solidFill>
            <a:srgbClr val="2E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50" b="1" i="0">
                <a:solidFill>
                  <a:srgbClr val="1F3864"/>
                </a:solidFill>
                <a:latin typeface="Arial"/>
              </a:rPr>
              <a:t>Transfer to harder tasks   </a:t>
            </a:r>
            <a:r>
              <a:rPr sz="1250" i="1">
                <a:solidFill>
                  <a:srgbClr val="2E5C9E"/>
                </a:solidFill>
                <a:latin typeface="Arial"/>
              </a:rPr>
              <a:t>[running]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54 runs: Assembly, BoxClose, StickPull × both reward models × 3 seeds. Calibration predicts StickPull transfers, BoxClose is borderline, Assembly fails.</a:t>
            </a:r>
          </a:p>
          <a:p>
            <a:pPr>
              <a:spcAft>
                <a:spcPts val="0"/>
              </a:spcAft>
            </a:pPr>
            <a:r>
              <a:rPr sz="1200" b="1" i="0">
                <a:solidFill>
                  <a:srgbClr val="B01E2E"/>
                </a:solidFill>
                <a:latin typeface="Arial"/>
              </a:rPr>
              <a:t>Results: TBD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16352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50" b="1" i="0">
                <a:solidFill>
                  <a:srgbClr val="1F3864"/>
                </a:solidFill>
                <a:latin typeface="Arial"/>
              </a:rPr>
              <a:t>Fair re-test of the off-the-shelf model   </a:t>
            </a:r>
            <a:r>
              <a:rPr sz="1250" i="1">
                <a:solidFill>
                  <a:srgbClr val="2E5C9E"/>
                </a:solidFill>
                <a:latin typeface="Arial"/>
              </a:rPr>
              <a:t>[queued]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Its confidence scale sits far lower than the fine-tuned model’s (usable thresholds 0.15 – 0.70), so previous runs under-fired its detector. Re-running at its own calibrated thresholds — first on BoxClose, where its offline detection is strongest (AUC 0.94). On CoffeePush its detector is weak even at its own threshold, so the headline result stands either way.</a:t>
            </a:r>
          </a:p>
          <a:p>
            <a:pPr>
              <a:spcAft>
                <a:spcPts val="0"/>
              </a:spcAft>
            </a:pPr>
            <a:r>
              <a:rPr sz="1200" b="1" i="0">
                <a:solidFill>
                  <a:srgbClr val="B01E2E"/>
                </a:solidFill>
                <a:latin typeface="Arial"/>
              </a:rPr>
              <a:t>Results: TBD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78224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50" b="1" i="0">
                <a:solidFill>
                  <a:srgbClr val="1F3864"/>
                </a:solidFill>
                <a:latin typeface="Arial"/>
              </a:rPr>
              <a:t>In-context demonstration during RL   </a:t>
            </a:r>
            <a:r>
              <a:rPr sz="1250" i="1">
                <a:solidFill>
                  <a:srgbClr val="2E5C9E"/>
                </a:solidFill>
                <a:latin typeface="Arial"/>
              </a:rPr>
              <a:t>[planned]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Calibration says a demonstration in context reduces early firing on BoxClose and helps StickPull — test it in the RL loop on those two tasks.</a:t>
            </a:r>
          </a:p>
          <a:p>
            <a:pPr>
              <a:spcAft>
                <a:spcPts val="0"/>
              </a:spcAft>
            </a:pPr>
            <a:r>
              <a:rPr sz="1200" b="1" i="0">
                <a:solidFill>
                  <a:srgbClr val="B01E2E"/>
                </a:solidFill>
                <a:latin typeface="Arial"/>
              </a:rPr>
              <a:t>Results: TBD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40096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50" b="1" i="0">
                <a:solidFill>
                  <a:srgbClr val="1F3864"/>
                </a:solidFill>
                <a:latin typeface="Arial"/>
              </a:rPr>
              <a:t>Seed stability   </a:t>
            </a:r>
            <a:r>
              <a:rPr sz="1250" i="1">
                <a:solidFill>
                  <a:srgbClr val="1F3864"/>
                </a:solidFill>
                <a:latin typeface="Arial"/>
              </a:rPr>
              <a:t>[open question]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Only ~1 seed in 3 succeeds in the winning configuration. Understanding and closing this gap is the main open problem.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