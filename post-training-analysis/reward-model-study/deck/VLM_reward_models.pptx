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800" b="1" i="0">
                <a:solidFill>
                  <a:srgbClr val="58A6FF"/>
                </a:solidFill>
                <a:latin typeface="Arial"/>
              </a:rPr>
              <a:t>Do fine-tuned VLM reward models give a better reward for robot RL?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E6EDF3"/>
                </a:solidFill>
                <a:latin typeface="Arial"/>
              </a:rPr>
              <a:t>We fine-tune vision-language reward models (Robometer-4B, Qwen3.5) and evaluate them as the reward signal for image-based reinforcement learning (IBRL) on a MetaWorld manipulation task.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Arial"/>
              </a:rPr>
              <a:t>Offline reward quality  ·  downstream RL performance  ·  why the two diverge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1 </a:t>
            </a:r>
            <a:r>
              <a:rPr sz="2800" b="1">
                <a:solidFill>
                  <a:srgbClr val="E6EDF3"/>
                </a:solidFill>
                <a:latin typeface="Arial"/>
              </a:rPr>
              <a:t>  The problem: VLM rewards do not transfer to RL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468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1300" b="1">
                <a:solidFill>
                  <a:srgbClr val="8B949E"/>
                </a:solidFill>
                <a:latin typeface="Arial"/>
              </a:rPr>
              <a:t>SPARSE REWARD</a:t>
            </a:r>
          </a:p>
          <a:p>
            <a:pPr algn="ctr"/>
            <a:r>
              <a:rPr sz="4000" b="1">
                <a:solidFill>
                  <a:srgbClr val="FF7B72"/>
                </a:solidFill>
                <a:latin typeface="Arial"/>
              </a:rPr>
              <a:t>≤ 0.13</a:t>
            </a:r>
          </a:p>
          <a:p>
            <a:pPr algn="ctr"/>
            <a:r>
              <a:rPr sz="1300">
                <a:solidFill>
                  <a:srgbClr val="E6EDF3"/>
                </a:solidFill>
                <a:latin typeface="Arial"/>
              </a:rPr>
              <a:t>peak task success on CoffeePush — every model, every β /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5029200" cy="2468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1300" b="1">
                <a:solidFill>
                  <a:srgbClr val="8B949E"/>
                </a:solidFill>
                <a:latin typeface="Arial"/>
              </a:rPr>
              <a:t>DENSE REWARD</a:t>
            </a:r>
          </a:p>
          <a:p>
            <a:pPr algn="ctr"/>
            <a:r>
              <a:rPr sz="4000" b="1">
                <a:solidFill>
                  <a:srgbClr val="FF7B72"/>
                </a:solidFill>
                <a:latin typeface="Arial"/>
              </a:rPr>
              <a:t>≤ 0.10</a:t>
            </a:r>
          </a:p>
          <a:p>
            <a:pPr algn="ctr"/>
            <a:r>
              <a:rPr sz="1300">
                <a:solidFill>
                  <a:srgbClr val="E6EDF3"/>
                </a:solidFill>
                <a:latin typeface="Arial"/>
              </a:rPr>
              <a:t>switching to a dense per-step reward does not help (Qwen3.5 diverged)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E6EDF3"/>
                </a:solidFill>
                <a:latin typeface="Arial"/>
              </a:rPr>
              <a:t>• With the same RL algorithm, task, and demonstrations, an oracle (ground-truth) reward trains the policy to </a:t>
            </a:r>
            <a:r>
              <a:rPr sz="1900" b="1" i="0">
                <a:solidFill>
                  <a:srgbClr val="E6EDF3"/>
                </a:solidFill>
                <a:latin typeface="Arial"/>
              </a:rPr>
              <a:t>0.48–0.76</a:t>
            </a:r>
            <a:r>
              <a:rPr sz="1900" b="0" i="0">
                <a:solidFill>
                  <a:srgbClr val="E6EDF3"/>
                </a:solidFill>
                <a:latin typeface="Arial"/>
              </a:rPr>
              <a:t> success. Every VLM reward — sparse or dense — caps near </a:t>
            </a:r>
            <a:r>
              <a:rPr sz="1900" b="1" i="0">
                <a:solidFill>
                  <a:srgbClr val="E6EDF3"/>
                </a:solidFill>
                <a:latin typeface="Arial"/>
              </a:rPr>
              <a:t>0.1</a:t>
            </a:r>
            <a:r>
              <a:rPr sz="1900" b="0" i="0">
                <a:solidFill>
                  <a:srgbClr val="E6EDF3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E3B341"/>
                </a:solidFill>
                <a:latin typeface="Arial"/>
              </a:rPr>
              <a:t>• The reward model, not the RL setup, is the bottleneck. The rest of this talk asks </a:t>
            </a:r>
            <a:r>
              <a:rPr sz="1900" b="1" i="0">
                <a:solidFill>
                  <a:srgbClr val="E3B341"/>
                </a:solidFill>
                <a:latin typeface="Arial"/>
              </a:rPr>
              <a:t>why</a:t>
            </a:r>
            <a:r>
              <a:rPr sz="1900" b="0" i="0">
                <a:solidFill>
                  <a:srgbClr val="E3B341"/>
                </a:solidFill>
                <a:latin typeface="Arial"/>
              </a:rPr>
              <a:t>, and whether fine-tuning helps.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2 </a:t>
            </a:r>
            <a:r>
              <a:rPr sz="2800" b="1">
                <a:solidFill>
                  <a:srgbClr val="E6EDF3"/>
                </a:solidFill>
                <a:latin typeface="Arial"/>
              </a:rPr>
              <a:t>  Trajectory ranking — out-of-distribution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38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44990"/>
                <a:gridCol w="2379406"/>
                <a:gridCol w="2379406"/>
                <a:gridCol w="226043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success AUC  ·  success head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rank-acc (sum)  ·  progress head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Kendall-τ  ·  progress head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2A8FF"/>
                          </a:solidFill>
                          <a:latin typeface="Arial"/>
                        </a:rPr>
                        <a:t>Robometer-4B  (off-the-shelf)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0.87</a:t>
                      </a:r>
                    </a:p>
                  </a:txBody>
                  <a:tcPr anchor="ctr" marT="12700" marB="12700" marL="76200">
                    <a:solidFill>
                      <a:srgbClr val="12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0.81</a:t>
                      </a:r>
                    </a:p>
                  </a:txBody>
                  <a:tcPr anchor="ctr" marT="12700" marB="12700" marL="76200">
                    <a:solidFill>
                      <a:srgbClr val="12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 anchor="ctr" marT="12700" marB="12700" marL="76200">
                    <a:solidFill>
                      <a:srgbClr val="122B5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(asym + ICL)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0.60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0.32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(asym)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0.56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0.29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Robometer-FT 4B  (standard loss)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0.54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0.49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-0.05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Qwen3.5-FT  (asym + ICL)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0.48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-0.02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Qwen3.5-FT  (asym)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0.55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0.07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Qwen3.5-FT  (standard loss)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0.58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0.60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0.13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8B949E"/>
                </a:solidFill>
                <a:latin typeface="Arial"/>
              </a:rPr>
              <a:t>On held-out robots, the off-the-shelf baseline ranks trajectories best on every metric; fine-tuning on our data reduces out-of-distribution ranking. (Baseline reproduces the published Robometer numbers.)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2 </a:t>
            </a:r>
            <a:r>
              <a:rPr sz="2800" b="1">
                <a:solidFill>
                  <a:srgbClr val="E6EDF3"/>
                </a:solidFill>
                <a:latin typeface="Arial"/>
              </a:rPr>
              <a:t>  Out-of-distribution — a concrete failure of the fine-tuned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nd3_OOD_base0.92_ft0.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463040"/>
            <a:ext cx="11521440" cy="1793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6634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• A successful trajectory on a held-out robot (unseen embodiment). The progress head reads the final frame: the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baseline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correctly recognises task completion (0.92); the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fine-tuned model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does not (0.21).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3B341"/>
                </a:solidFill>
                <a:latin typeface="Arial"/>
              </a:rPr>
              <a:t>• Fine-tuning on a narrower data distribution costs generalisation to unseen embodiments.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(Progress head, scale 0–1; both models scored all 16 frames — 8 shown.)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3 </a:t>
            </a:r>
            <a:r>
              <a:rPr sz="2800" b="1">
                <a:solidFill>
                  <a:srgbClr val="E6EDF3"/>
                </a:solidFill>
                <a:latin typeface="Arial"/>
              </a:rPr>
              <a:t>  Trajectory ranking — in-distribution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36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4188"/>
                <a:gridCol w="1952512"/>
                <a:gridCol w="1952512"/>
                <a:gridCol w="1952512"/>
                <a:gridCol w="195251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rank-acc  (no ICL)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Kendall-τ  (no ICL)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rank-acc  (+ ICL)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Kendall-τ  (+ ICL)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2A8FF"/>
                          </a:solidFill>
                          <a:latin typeface="Arial"/>
                        </a:rPr>
                        <a:t>Robometer-4B  (off-the-shelf)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0.611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0.437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0.625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0.397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(asym + ICL)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0.821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0.707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0.896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0.818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(asym)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0.846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0.692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0.731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0.741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Robometer-FT 4B  (std loss)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0.771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0.591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0.747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0.672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Qwen3.5-FT  (asym + ICL)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0.834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0.669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0.842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0.676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Qwen3.5-FT  (asym)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0.743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0.412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Qwen3.5-FT  (std loss)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0.813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0.617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B949E"/>
                </a:solidFill>
                <a:latin typeface="Arial"/>
              </a:rPr>
              <a:t>In-distribution, the fine-tuned 4B models rank best (progress head). In-context demonstrations (ICL) give a small additional gain for the models trained with them. Numbers reproduce the training-time evaluation exactly.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In-context demos help the models trained with ICL (run1, run4); for the 4B no-ICL models they are roughly neutral. (Qwen3.5 no-ICL in-context rows pending — a Qwen3.5-specific harness ICL issue is under investigation.)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3 </a:t>
            </a:r>
            <a:r>
              <a:rPr sz="2800" b="1">
                <a:solidFill>
                  <a:srgbClr val="E6EDF3"/>
                </a:solidFill>
                <a:latin typeface="Arial"/>
              </a:rPr>
              <a:t>  In-distribution — where fine-tuning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p3_FAILURE_base0.86_ft0.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463040"/>
            <a:ext cx="11521440" cy="17420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6634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• A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failed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attempt — the puck never reaches the shelf. The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baseline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scores it a success (0.86) — a false positive; the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fine-tuned model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correctly rejects it (0.08).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3B341"/>
                </a:solidFill>
                <a:latin typeface="Arial"/>
              </a:rPr>
              <a:t>• These false positives are exactly what a policy learns to exploit — the next section.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(Success head, 0–1; standard external camera, not the wrist view; 8 of 16 frames shown.)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4 </a:t>
            </a:r>
            <a:r>
              <a:rPr sz="2800" b="1">
                <a:solidFill>
                  <a:srgbClr val="E6EDF3"/>
                </a:solidFill>
                <a:latin typeface="Arial"/>
              </a:rPr>
              <a:t>  Offline quality — success head (the reward IBRL uses)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778237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7429"/>
                <a:gridCol w="1586428"/>
                <a:gridCol w="1797952"/>
                <a:gridCol w="158642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AUPRC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TPR @ 5% FPR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2A8FF"/>
                          </a:solidFill>
                          <a:latin typeface="Arial"/>
                        </a:rPr>
                        <a:t>Robometer-4B  (off-the-shelf)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0.67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0.24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0.67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(asym + ICL)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0.91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0.55</a:t>
                      </a:r>
                    </a:p>
                  </a:txBody>
                  <a:tcPr anchor="ctr" marT="12700" marB="12700" marL="76200">
                    <a:solidFill>
                      <a:srgbClr val="12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0.88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(asym)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0.54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0.88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Robometer-FT 4B  (std loss)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0.88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0.51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0.87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Qwen3.5-FT  (asym + ICL)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0.23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Qwen3.5-FT  (asym)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0.65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Qwen3.5-FT  (std loss)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0.14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0.65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• The success head is what the deployed reward reads. The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fine-tuned 4B models clearly beat the baseline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— AUPRC 0.88–0.91 vs 0.67, and at a strict 5% false-positive budget they recover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0.51–0.55 vs 0.24</a:t>
            </a:r>
            <a:r>
              <a:rPr sz="1500" b="0" i="0">
                <a:solidFill>
                  <a:srgbClr val="E6EDF3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B949E"/>
                </a:solidFill>
                <a:latin typeface="Arial"/>
              </a:rPr>
              <a:t>TPR @ 5% FPR is the operating point that matters for RL: catch successes without rewarding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5 </a:t>
            </a:r>
            <a:r>
              <a:rPr sz="2800" b="1">
                <a:solidFill>
                  <a:srgbClr val="E6EDF3"/>
                </a:solidFill>
                <a:latin typeface="Arial"/>
              </a:rPr>
              <a:t>  Offline quality — progress head (class separation)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0241278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0616"/>
                <a:gridCol w="1789738"/>
                <a:gridCol w="1889168"/>
                <a:gridCol w="1590878"/>
                <a:gridCol w="159087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TPR @ 5% FPR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gap (succ−fail)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pooled σ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d′ = gap / σ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2A8FF"/>
                          </a:solidFill>
                          <a:latin typeface="Arial"/>
                        </a:rPr>
                        <a:t>Robometer-4B  (off-the-shelf)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0.22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+0.13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2A8FF"/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(asym + ICL)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+0.48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1.54</a:t>
                      </a:r>
                    </a:p>
                  </a:txBody>
                  <a:tcPr anchor="ctr" marT="12700" marB="12700" marL="76200">
                    <a:solidFill>
                      <a:srgbClr val="122B5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(asym)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0.91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+0.41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1.31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Robometer-FT 4B  (std loss)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0.19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+0.14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0.13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1.08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Qwen3.5-FT  (asym + ICL)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0.73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+0.19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0.36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0.54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Qwen3.5-FT  (asym)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+0.10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0.39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7B72"/>
                          </a:solidFill>
                          <a:latin typeface="Arial"/>
                        </a:rPr>
                        <a:t>0.27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Qwen3.5-FT  (std loss)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0.09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+0.04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0.13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0.32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• Separation of success vs failure by the progress head. The </a:t>
            </a:r>
            <a:r>
              <a:rPr sz="1400" b="1" i="0">
                <a:solidFill>
                  <a:srgbClr val="E6EDF3"/>
                </a:solidFill>
                <a:latin typeface="Arial"/>
              </a:rPr>
              <a:t>fine-tuned 4B models separate the classes far better than the baseline</a:t>
            </a:r>
            <a:r>
              <a:rPr sz="1400" b="0" i="0">
                <a:solidFill>
                  <a:srgbClr val="E6EDF3"/>
                </a:solidFill>
                <a:latin typeface="Arial"/>
              </a:rPr>
              <a:t> (d′ 1.3–1.5 vs 0.42). The asymmetric loss compresses the score *scale* (small gap) but keeps — even improves — *separability* (high d′).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Note d′ ≈ 1.5 means the gap is only ~1.5 standard deviations — good, not perfect. The failure distribution's upper tail still crosses any usable threshold, so a residual false-positive rate is built in (≈5% offline).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6 </a:t>
            </a:r>
            <a:r>
              <a:rPr sz="2800" b="1">
                <a:solidFill>
                  <a:srgbClr val="E6EDF3"/>
                </a:solidFill>
                <a:latin typeface="Arial"/>
              </a:rPr>
              <a:t>  Downstream RL — the reward is the limiter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l_gt_vs_v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498079" cy="43030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463040"/>
            <a:ext cx="3566160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1300" b="1">
                <a:solidFill>
                  <a:srgbClr val="8B949E"/>
                </a:solidFill>
                <a:latin typeface="Arial"/>
              </a:rPr>
              <a:t>ORACLE REWARD</a:t>
            </a:r>
          </a:p>
          <a:p>
            <a:pPr algn="ctr"/>
            <a:r>
              <a:rPr sz="4000" b="1">
                <a:solidFill>
                  <a:srgbClr val="56D364"/>
                </a:solidFill>
                <a:latin typeface="Arial"/>
              </a:rPr>
              <a:t>0.48–0.76</a:t>
            </a:r>
          </a:p>
          <a:p>
            <a:pPr algn="ctr"/>
            <a:r>
              <a:rPr sz="1300">
                <a:solidFill>
                  <a:srgbClr val="E6EDF3"/>
                </a:solidFill>
                <a:latin typeface="Arial"/>
              </a:rPr>
              <a:t>3 seeds, same RL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017520"/>
            <a:ext cx="3566160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1300" b="1">
                <a:solidFill>
                  <a:srgbClr val="8B949E"/>
                </a:solidFill>
                <a:latin typeface="Arial"/>
              </a:rPr>
              <a:t>VLM REWARD</a:t>
            </a:r>
          </a:p>
          <a:p>
            <a:pPr algn="ctr"/>
            <a:r>
              <a:rPr sz="4000" b="1">
                <a:solidFill>
                  <a:srgbClr val="FF7B72"/>
                </a:solidFill>
                <a:latin typeface="Arial"/>
              </a:rPr>
              <a:t>≤ 0.13</a:t>
            </a:r>
          </a:p>
          <a:p>
            <a:pPr algn="ctr"/>
            <a:r>
              <a:rPr sz="1300">
                <a:solidFill>
                  <a:srgbClr val="E6EDF3"/>
                </a:solidFill>
                <a:latin typeface="Arial"/>
              </a:rPr>
              <a:t>every model, every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57200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6EDF3"/>
                </a:solidFill>
                <a:latin typeface="Arial"/>
              </a:rPr>
              <a:t>• Replacing the VLM reward with the simulator's ground-truth reward trains the policy to 0.48–0.76 on the identical loop, task, and demonstrations.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3B341"/>
                </a:solidFill>
                <a:latin typeface="Arial"/>
              </a:rPr>
              <a:t>• So the limitation is the reward's usable signal, not the RL algorithm or the task.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7 </a:t>
            </a:r>
            <a:r>
              <a:rPr sz="2800" b="1">
                <a:solidFill>
                  <a:srgbClr val="E6EDF3"/>
                </a:solidFill>
                <a:latin typeface="Arial"/>
              </a:rPr>
              <a:t>  Reward shaping does not break the ceiling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l_beta_tau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760720" cy="3306039"/>
          </a:xfrm>
          <a:prstGeom prst="rect">
            <a:avLst/>
          </a:prstGeom>
        </p:spPr>
      </p:pic>
      <p:pic>
        <p:nvPicPr>
          <p:cNvPr id="5" name="Picture 4" descr="rl_peak_by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760720" cy="3715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• Left: a full reward-weighting and threshold sweep on the fine-tuned model — all flat. Right: peak success per model — every VLM reward stays ≤ 0.13, against the oracle control at 0.82.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9 </a:t>
            </a:r>
            <a:r>
              <a:rPr sz="2800" b="1">
                <a:solidFill>
                  <a:srgbClr val="E6EDF3"/>
                </a:solidFill>
                <a:latin typeface="Arial"/>
              </a:rPr>
              <a:t>  RL amplifies the exploitable false positives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l_reward_hacking_3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404" y="1463040"/>
            <a:ext cx="8980998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3776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Arial"/>
              </a:rPr>
              <a:t>• The reward's mistakes form a consistent, findable pattern. RL is an optimiser, so the policy learns to trigger them: the false-positive rate grows from </a:t>
            </a:r>
            <a:r>
              <a:rPr sz="1450" b="1" i="0">
                <a:solidFill>
                  <a:srgbClr val="E6EDF3"/>
                </a:solidFill>
                <a:latin typeface="Arial"/>
              </a:rPr>
              <a:t>14–17% offline to 41–62% on-policy</a:t>
            </a:r>
            <a:r>
              <a:rPr sz="1450" b="0" i="0">
                <a:solidFill>
                  <a:srgbClr val="E6EDF3"/>
                </a:solidFill>
                <a:latin typeface="Arial"/>
              </a:rPr>
              <a:t> for every model.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E3B341"/>
                </a:solidFill>
                <a:latin typeface="Arial"/>
              </a:rPr>
              <a:t>• The agent banks reward ≈ its false-positive rate while true success stays near 0–5% — classic reward hacking.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10 </a:t>
            </a:r>
            <a:r>
              <a:rPr sz="2800" b="1">
                <a:solidFill>
                  <a:srgbClr val="E6EDF3"/>
                </a:solidFill>
                <a:latin typeface="Arial"/>
              </a:rPr>
              <a:t>  It is exploitability, not the raw error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l_fp_dose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554" y="1417320"/>
            <a:ext cx="9428699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292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• Controlled test: injecting *random* false positives into the oracle reward degrades performance only gradually (5% → 0.48) — a policy tolerates non-exploitable noise.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3B341"/>
                </a:solidFill>
                <a:latin typeface="Arial"/>
              </a:rPr>
              <a:t>• The VLM's false positives are *structured*, so the policy locks onto them and the rate runs away — a self-reinforcing loop that random noise cannot reproduce.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11 </a:t>
            </a:r>
            <a:r>
              <a:rPr sz="2800" b="1">
                <a:solidFill>
                  <a:srgbClr val="E6EDF3"/>
                </a:solidFill>
                <a:latin typeface="Arial"/>
              </a:rPr>
              <a:t>  A dense reward does not help either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0058398" cy="1645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/>
                <a:gridCol w="2057399"/>
                <a:gridCol w="2971799"/>
              </a:tblGrid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8A6FF"/>
                          </a:solidFill>
                          <a:latin typeface="Arial"/>
                        </a:rPr>
                        <a:t>dense per-step reward (β = 1, progress)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8A6FF"/>
                          </a:solidFill>
                          <a:latin typeface="Arial"/>
                        </a:rPr>
                        <a:t>peak success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8A6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2A8FF"/>
                          </a:solidFill>
                          <a:latin typeface="Arial"/>
                        </a:rPr>
                        <a:t>Robometer-4B  (off-the-shelf)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D2A8FF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D2A8FF"/>
                          </a:solidFill>
                          <a:latin typeface="Arial"/>
                        </a:rPr>
                        <a:t>flat — no learning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54864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7B72"/>
                          </a:solidFill>
                          <a:latin typeface="Arial"/>
                        </a:rPr>
                        <a:t>Robometer-FT 4B  (ours)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7B72"/>
                          </a:solidFill>
                          <a:latin typeface="Arial"/>
                        </a:rPr>
                        <a:t>0.04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7B72"/>
                          </a:solidFill>
                          <a:latin typeface="Arial"/>
                        </a:rPr>
                        <a:t>flat — no learning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• We also tried a fully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dense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reward — the progress signal at every step instead of a sparse signal at the end. It caps at the same ~0.1 as the sparse reward.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3B341"/>
                </a:solidFill>
                <a:latin typeface="Arial"/>
              </a:rPr>
              <a:t>• This is the key takeaway: the progress head separates classes well offline (d′ &gt; 1), yet a dense progress reward still fails on-policy. </a:t>
            </a:r>
            <a:r>
              <a:rPr sz="1700" b="1" i="0">
                <a:solidFill>
                  <a:srgbClr val="E3B341"/>
                </a:solidFill>
                <a:latin typeface="Arial"/>
              </a:rPr>
              <a:t>The bottleneck is on-policy exploitation, not reward sparsity or offline quality</a:t>
            </a:r>
            <a:r>
              <a:rPr sz="1700" b="0" i="0">
                <a:solidFill>
                  <a:srgbClr val="E3B341"/>
                </a:solidFill>
                <a:latin typeface="Arial"/>
              </a:rPr>
              <a:t> — a dense reward simply gives the policy a smoother surface to exploit.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12 </a:t>
            </a:r>
            <a:r>
              <a:rPr sz="2800" b="1">
                <a:solidFill>
                  <a:srgbClr val="E6EDF3"/>
                </a:solidFill>
                <a:latin typeface="Arial"/>
              </a:rPr>
              <a:t>  What the policy actually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l_exploit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17" y="1417320"/>
            <a:ext cx="450712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• We rolled out the collapsed policy (80 episodes).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44% of its failures are scored as success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by the reward; true task success is 15%.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3B341"/>
                </a:solidFill>
                <a:latin typeface="Arial"/>
              </a:rPr>
              <a:t>• The reward even prefers the exploited failures (score 0.68–0.85) to a genuine success (0.65) — the ranking inverts on-policy.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• The exploited states form a family — arm raised, object not delivered — that the reward over-scores. The policy parks there instead of completing the task.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13 </a:t>
            </a:r>
            <a:r>
              <a:rPr sz="2800" b="1">
                <a:solidFill>
                  <a:srgbClr val="E6EDF3"/>
                </a:solidFill>
                <a:latin typeface="Arial"/>
              </a:rPr>
              <a:t>  Strong offline reward quality does not transfer on-policy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• The fine-tuned reward is excellent on the offline eval set, but its ability to tell success from failure decays as the data moves toward the policy's own distribution — to chance on live RL rollouts.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548640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0752"/>
                <a:gridCol w="1755648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scoring distribution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success AUC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7B72"/>
                          </a:solidFill>
                          <a:latin typeface="Arial"/>
                        </a:rPr>
                        <a:t>Offline eval set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anchor="ctr" marT="12700" marB="12700" marL="76200">
                    <a:solidFill>
                      <a:srgbClr val="122B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BC-policy rollouts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8A6FF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2A8FF"/>
                          </a:solidFill>
                          <a:latin typeface="Arial"/>
                        </a:rPr>
                        <a:t>On-policy (RL) rollouts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  <a:latin typeface="Arial"/>
                        </a:rPr>
                        <a:t>0.55</a:t>
                      </a:r>
                    </a:p>
                  </a:txBody>
                  <a:tcPr anchor="ctr" marT="12700" marB="12700" marL="76200">
                    <a:solidFill>
                      <a:srgbClr val="122B5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8B949E"/>
                </a:solidFill>
                <a:latin typeface="Arial"/>
              </a:rPr>
              <a:t>Robometer-FT, balanced set (135 successes / 65 failures from a competent GT-trained policy) — trustworthy 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2286000"/>
          <a:ext cx="5669279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54434"/>
                <a:gridCol w="1214845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8A6FF"/>
                          </a:solidFill>
                          <a:latin typeface="Arial"/>
                        </a:rPr>
                        <a:t>same on-policy frames, re-scored as…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8A6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anchor="ctr" marT="12700" marB="12700"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2A8FF"/>
                          </a:solidFill>
                          <a:latin typeface="Arial"/>
                        </a:rPr>
                        <a:t>raw 224  (as the live env feeds them)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2A8FF"/>
                          </a:solidFill>
                          <a:latin typeface="Arial"/>
                        </a:rPr>
                        <a:t>0.47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2A8FF"/>
                          </a:solidFill>
                          <a:latin typeface="Arial"/>
                        </a:rPr>
                        <a:t>h264 @ 224   (codec only)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2A8FF"/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2A8FF"/>
                          </a:solidFill>
                          <a:latin typeface="Arial"/>
                        </a:rPr>
                        <a:t>h264 @ 240   (full curated pipeline)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2A8FF"/>
                          </a:solidFill>
                          <a:latin typeface="Arial"/>
                        </a:rPr>
                        <a:t>0.56</a:t>
                      </a:r>
                    </a:p>
                  </a:txBody>
                  <a:tcPr anchor="ctr" marT="12700" marB="12700" marL="76200">
                    <a:solidFill>
                      <a:srgbClr val="1116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2A8FF"/>
                          </a:solidFill>
                          <a:latin typeface="Arial"/>
                        </a:rPr>
                        <a:t>jpeg @ 224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2A8FF"/>
                          </a:solidFill>
                          <a:latin typeface="Arial"/>
                        </a:rPr>
                        <a:t>0.51</a:t>
                      </a:r>
                    </a:p>
                  </a:txBody>
                  <a:tcPr anchor="ctr" marT="12700" marB="12700" marL="76200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475488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Arial"/>
              </a:rPr>
              <a:t>• Pushing the live frames through the exact curated-data pipeline (codec + resolution) does </a:t>
            </a:r>
            <a:r>
              <a:rPr sz="1250" b="1" i="0">
                <a:solidFill>
                  <a:srgbClr val="E6EDF3"/>
                </a:solidFill>
                <a:latin typeface="Arial"/>
              </a:rPr>
              <a:t>not</a:t>
            </a:r>
            <a:r>
              <a:rPr sz="1250" b="0" i="0">
                <a:solidFill>
                  <a:srgbClr val="E6EDF3"/>
                </a:solidFill>
                <a:latin typeface="Arial"/>
              </a:rPr>
              <a:t> recover it — every variant stays at chance.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150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3B341"/>
                </a:solidFill>
                <a:latin typeface="Arial"/>
              </a:rPr>
              <a:t>• So the offline→online gap is a genuine content/distribution shift, not a preprocessing artifact. Offline reward metrics (AUC, ECE, d′) do not predict on-policy usefulness.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 ∑ </a:t>
            </a:r>
            <a:r>
              <a:rPr sz="2800" b="1">
                <a:solidFill>
                  <a:srgbClr val="E6EDF3"/>
                </a:solidFill>
                <a:latin typeface="Arial"/>
              </a:rPr>
              <a:t> 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01168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1.  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Fine-tuning improves the offline reward in-distribution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— higher success-head AUPRC and TPR, and better class separation (d′ 1.3–1.5 vs 0.42) than the off-the-shelf baseline.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2.  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It trades this for out-of-distribution generalisation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— on held-out robots the baseline ranks better.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3.  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No VLM reward — fine-tuned or not, sparse or dense — trains the policy.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All cap near 0.1; the oracle reward reaches 0.48–0.76 on the same loop.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4.  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The cause is on-policy reward hacking, not offline quality.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The reward separates classes offline (AUC 0.89), but its structured false positives are exploitable, so RL amplifies them (14–17% → 41–62%).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5.  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Implication: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offline reward metrics do not predict downstream RL usefulness. The next step is on-policy reward correction — relabel the false positives the policy discovers to break the exploitable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